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0" r:id="rId1"/>
  </p:sldMasterIdLst>
  <p:sldIdLst>
    <p:sldId id="256" r:id="rId2"/>
    <p:sldId id="263" r:id="rId3"/>
    <p:sldId id="264" r:id="rId4"/>
    <p:sldId id="273" r:id="rId5"/>
    <p:sldId id="274" r:id="rId6"/>
    <p:sldId id="275" r:id="rId7"/>
    <p:sldId id="276" r:id="rId8"/>
    <p:sldId id="277" r:id="rId9"/>
    <p:sldId id="266" r:id="rId10"/>
    <p:sldId id="267" r:id="rId11"/>
    <p:sldId id="278" r:id="rId12"/>
    <p:sldId id="279" r:id="rId13"/>
    <p:sldId id="268" r:id="rId14"/>
    <p:sldId id="269" r:id="rId15"/>
    <p:sldId id="280" r:id="rId16"/>
    <p:sldId id="270" r:id="rId17"/>
    <p:sldId id="282" r:id="rId18"/>
    <p:sldId id="272" r:id="rId19"/>
    <p:sldId id="281"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50B2AD-2953-4E37-85EB-1CFD0D3FC912}" v="2" dt="2025-02-26T22:02:37.0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85"/>
    <p:restoredTop sz="94710"/>
  </p:normalViewPr>
  <p:slideViewPr>
    <p:cSldViewPr snapToGrid="0">
      <p:cViewPr>
        <p:scale>
          <a:sx n="130" d="100"/>
          <a:sy n="130" d="100"/>
        </p:scale>
        <p:origin x="14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rpus, Javier" userId="b37aca27-9fba-4fa8-af6f-2a4c7fd33ba3" providerId="ADAL" clId="{4D69E0C2-0E5B-4BF4-9F01-3BFC28A09224}"/>
    <pc:docChg chg="custSel addSld modSld">
      <pc:chgData name="Corpus, Javier" userId="b37aca27-9fba-4fa8-af6f-2a4c7fd33ba3" providerId="ADAL" clId="{4D69E0C2-0E5B-4BF4-9F01-3BFC28A09224}" dt="2025-02-25T18:57:04.704" v="971" actId="20577"/>
      <pc:docMkLst>
        <pc:docMk/>
      </pc:docMkLst>
      <pc:sldChg chg="addSp modSp mod">
        <pc:chgData name="Corpus, Javier" userId="b37aca27-9fba-4fa8-af6f-2a4c7fd33ba3" providerId="ADAL" clId="{4D69E0C2-0E5B-4BF4-9F01-3BFC28A09224}" dt="2025-02-25T18:40:11.381" v="547"/>
        <pc:sldMkLst>
          <pc:docMk/>
          <pc:sldMk cId="33758184" sldId="266"/>
        </pc:sldMkLst>
        <pc:spChg chg="add mod">
          <ac:chgData name="Corpus, Javier" userId="b37aca27-9fba-4fa8-af6f-2a4c7fd33ba3" providerId="ADAL" clId="{4D69E0C2-0E5B-4BF4-9F01-3BFC28A09224}" dt="2025-02-25T18:40:11.381" v="547"/>
          <ac:spMkLst>
            <pc:docMk/>
            <pc:sldMk cId="33758184" sldId="266"/>
            <ac:spMk id="3" creationId="{DDD8A623-2BE1-351E-C4E7-C98377FF4B2C}"/>
          </ac:spMkLst>
        </pc:spChg>
        <pc:picChg chg="add mod">
          <ac:chgData name="Corpus, Javier" userId="b37aca27-9fba-4fa8-af6f-2a4c7fd33ba3" providerId="ADAL" clId="{4D69E0C2-0E5B-4BF4-9F01-3BFC28A09224}" dt="2025-02-25T17:49:16.585" v="3" actId="1076"/>
          <ac:picMkLst>
            <pc:docMk/>
            <pc:sldMk cId="33758184" sldId="266"/>
            <ac:picMk id="5" creationId="{02F17929-526A-9B31-D595-ADEB723345C1}"/>
          </ac:picMkLst>
        </pc:picChg>
      </pc:sldChg>
      <pc:sldChg chg="addSp modSp mod">
        <pc:chgData name="Corpus, Javier" userId="b37aca27-9fba-4fa8-af6f-2a4c7fd33ba3" providerId="ADAL" clId="{4D69E0C2-0E5B-4BF4-9F01-3BFC28A09224}" dt="2025-02-25T18:50:29.451" v="883" actId="20577"/>
        <pc:sldMkLst>
          <pc:docMk/>
          <pc:sldMk cId="160931051" sldId="267"/>
        </pc:sldMkLst>
        <pc:spChg chg="add mod">
          <ac:chgData name="Corpus, Javier" userId="b37aca27-9fba-4fa8-af6f-2a4c7fd33ba3" providerId="ADAL" clId="{4D69E0C2-0E5B-4BF4-9F01-3BFC28A09224}" dt="2025-02-25T18:50:29.451" v="883" actId="20577"/>
          <ac:spMkLst>
            <pc:docMk/>
            <pc:sldMk cId="160931051" sldId="267"/>
            <ac:spMk id="3" creationId="{438ADBA6-6681-8DD1-97B4-8139335EC050}"/>
          </ac:spMkLst>
        </pc:spChg>
        <pc:picChg chg="add mod">
          <ac:chgData name="Corpus, Javier" userId="b37aca27-9fba-4fa8-af6f-2a4c7fd33ba3" providerId="ADAL" clId="{4D69E0C2-0E5B-4BF4-9F01-3BFC28A09224}" dt="2025-02-25T18:40:52.593" v="548" actId="1076"/>
          <ac:picMkLst>
            <pc:docMk/>
            <pc:sldMk cId="160931051" sldId="267"/>
            <ac:picMk id="5" creationId="{27EE64AB-1E78-4A29-E934-798056D36F53}"/>
          </ac:picMkLst>
        </pc:picChg>
      </pc:sldChg>
      <pc:sldChg chg="addSp modSp mod">
        <pc:chgData name="Corpus, Javier" userId="b37aca27-9fba-4fa8-af6f-2a4c7fd33ba3" providerId="ADAL" clId="{4D69E0C2-0E5B-4BF4-9F01-3BFC28A09224}" dt="2025-02-25T18:52:31.720" v="887" actId="1076"/>
        <pc:sldMkLst>
          <pc:docMk/>
          <pc:sldMk cId="4157600894" sldId="268"/>
        </pc:sldMkLst>
        <pc:picChg chg="add mod">
          <ac:chgData name="Corpus, Javier" userId="b37aca27-9fba-4fa8-af6f-2a4c7fd33ba3" providerId="ADAL" clId="{4D69E0C2-0E5B-4BF4-9F01-3BFC28A09224}" dt="2025-02-25T18:52:31.720" v="887" actId="1076"/>
          <ac:picMkLst>
            <pc:docMk/>
            <pc:sldMk cId="4157600894" sldId="268"/>
            <ac:picMk id="5" creationId="{BEB60CFC-659D-7288-B1F0-1CB67C4D744E}"/>
          </ac:picMkLst>
        </pc:picChg>
      </pc:sldChg>
      <pc:sldChg chg="addSp delSp modSp mod">
        <pc:chgData name="Corpus, Javier" userId="b37aca27-9fba-4fa8-af6f-2a4c7fd33ba3" providerId="ADAL" clId="{4D69E0C2-0E5B-4BF4-9F01-3BFC28A09224}" dt="2025-02-25T18:52:41.253" v="889" actId="1076"/>
        <pc:sldMkLst>
          <pc:docMk/>
          <pc:sldMk cId="584701142" sldId="269"/>
        </pc:sldMkLst>
        <pc:picChg chg="add del mod">
          <ac:chgData name="Corpus, Javier" userId="b37aca27-9fba-4fa8-af6f-2a4c7fd33ba3" providerId="ADAL" clId="{4D69E0C2-0E5B-4BF4-9F01-3BFC28A09224}" dt="2025-02-25T17:51:33.107" v="20" actId="478"/>
          <ac:picMkLst>
            <pc:docMk/>
            <pc:sldMk cId="584701142" sldId="269"/>
            <ac:picMk id="5" creationId="{9A80D5F2-DFA1-721C-8D34-5B71207C016F}"/>
          </ac:picMkLst>
        </pc:picChg>
        <pc:picChg chg="add mod">
          <ac:chgData name="Corpus, Javier" userId="b37aca27-9fba-4fa8-af6f-2a4c7fd33ba3" providerId="ADAL" clId="{4D69E0C2-0E5B-4BF4-9F01-3BFC28A09224}" dt="2025-02-25T18:52:41.253" v="889" actId="1076"/>
          <ac:picMkLst>
            <pc:docMk/>
            <pc:sldMk cId="584701142" sldId="269"/>
            <ac:picMk id="7" creationId="{346860B1-3517-9A51-5BB1-86299F61EA67}"/>
          </ac:picMkLst>
        </pc:picChg>
      </pc:sldChg>
      <pc:sldChg chg="addSp modSp mod">
        <pc:chgData name="Corpus, Javier" userId="b37aca27-9fba-4fa8-af6f-2a4c7fd33ba3" providerId="ADAL" clId="{4D69E0C2-0E5B-4BF4-9F01-3BFC28A09224}" dt="2025-02-25T18:53:02.872" v="892" actId="1076"/>
        <pc:sldMkLst>
          <pc:docMk/>
          <pc:sldMk cId="682574337" sldId="270"/>
        </pc:sldMkLst>
        <pc:picChg chg="add mod">
          <ac:chgData name="Corpus, Javier" userId="b37aca27-9fba-4fa8-af6f-2a4c7fd33ba3" providerId="ADAL" clId="{4D69E0C2-0E5B-4BF4-9F01-3BFC28A09224}" dt="2025-02-25T18:53:02.872" v="892" actId="1076"/>
          <ac:picMkLst>
            <pc:docMk/>
            <pc:sldMk cId="682574337" sldId="270"/>
            <ac:picMk id="5" creationId="{76B7925B-A186-CD73-50EE-E56262272FA3}"/>
          </ac:picMkLst>
        </pc:picChg>
      </pc:sldChg>
      <pc:sldChg chg="addSp delSp modSp add mod">
        <pc:chgData name="Corpus, Javier" userId="b37aca27-9fba-4fa8-af6f-2a4c7fd33ba3" providerId="ADAL" clId="{4D69E0C2-0E5B-4BF4-9F01-3BFC28A09224}" dt="2025-02-25T18:57:04.704" v="971" actId="20577"/>
        <pc:sldMkLst>
          <pc:docMk/>
          <pc:sldMk cId="1521286269" sldId="278"/>
        </pc:sldMkLst>
        <pc:spChg chg="add mod">
          <ac:chgData name="Corpus, Javier" userId="b37aca27-9fba-4fa8-af6f-2a4c7fd33ba3" providerId="ADAL" clId="{4D69E0C2-0E5B-4BF4-9F01-3BFC28A09224}" dt="2025-02-25T18:57:04.704" v="971" actId="20577"/>
          <ac:spMkLst>
            <pc:docMk/>
            <pc:sldMk cId="1521286269" sldId="278"/>
            <ac:spMk id="3" creationId="{291CE903-DB5B-EEB9-7DAA-8A91C68CC23D}"/>
          </ac:spMkLst>
        </pc:spChg>
        <pc:picChg chg="del">
          <ac:chgData name="Corpus, Javier" userId="b37aca27-9fba-4fa8-af6f-2a4c7fd33ba3" providerId="ADAL" clId="{4D69E0C2-0E5B-4BF4-9F01-3BFC28A09224}" dt="2025-02-25T17:50:08.757" v="8" actId="478"/>
          <ac:picMkLst>
            <pc:docMk/>
            <pc:sldMk cId="1521286269" sldId="278"/>
            <ac:picMk id="5" creationId="{27EE64AB-1E78-4A29-E934-798056D36F53}"/>
          </ac:picMkLst>
        </pc:picChg>
        <pc:picChg chg="add mod">
          <ac:chgData name="Corpus, Javier" userId="b37aca27-9fba-4fa8-af6f-2a4c7fd33ba3" providerId="ADAL" clId="{4D69E0C2-0E5B-4BF4-9F01-3BFC28A09224}" dt="2025-02-25T18:52:09.966" v="884" actId="1076"/>
          <ac:picMkLst>
            <pc:docMk/>
            <pc:sldMk cId="1521286269" sldId="278"/>
            <ac:picMk id="6" creationId="{AE796F0E-EFCD-3B8F-05B2-9EDE3CD07100}"/>
          </ac:picMkLst>
        </pc:picChg>
      </pc:sldChg>
      <pc:sldChg chg="addSp delSp modSp add mod">
        <pc:chgData name="Corpus, Javier" userId="b37aca27-9fba-4fa8-af6f-2a4c7fd33ba3" providerId="ADAL" clId="{4D69E0C2-0E5B-4BF4-9F01-3BFC28A09224}" dt="2025-02-25T18:52:19.812" v="885" actId="1076"/>
        <pc:sldMkLst>
          <pc:docMk/>
          <pc:sldMk cId="2570537794" sldId="279"/>
        </pc:sldMkLst>
        <pc:picChg chg="del">
          <ac:chgData name="Corpus, Javier" userId="b37aca27-9fba-4fa8-af6f-2a4c7fd33ba3" providerId="ADAL" clId="{4D69E0C2-0E5B-4BF4-9F01-3BFC28A09224}" dt="2025-02-25T17:50:10.079" v="9" actId="478"/>
          <ac:picMkLst>
            <pc:docMk/>
            <pc:sldMk cId="2570537794" sldId="279"/>
            <ac:picMk id="5" creationId="{27EE64AB-1E78-4A29-E934-798056D36F53}"/>
          </ac:picMkLst>
        </pc:picChg>
        <pc:picChg chg="add del mod">
          <ac:chgData name="Corpus, Javier" userId="b37aca27-9fba-4fa8-af6f-2a4c7fd33ba3" providerId="ADAL" clId="{4D69E0C2-0E5B-4BF4-9F01-3BFC28A09224}" dt="2025-02-25T17:50:21.397" v="12" actId="21"/>
          <ac:picMkLst>
            <pc:docMk/>
            <pc:sldMk cId="2570537794" sldId="279"/>
            <ac:picMk id="6" creationId="{AE796F0E-EFCD-3B8F-05B2-9EDE3CD07100}"/>
          </ac:picMkLst>
        </pc:picChg>
        <pc:picChg chg="add mod">
          <ac:chgData name="Corpus, Javier" userId="b37aca27-9fba-4fa8-af6f-2a4c7fd33ba3" providerId="ADAL" clId="{4D69E0C2-0E5B-4BF4-9F01-3BFC28A09224}" dt="2025-02-25T18:52:19.812" v="885" actId="1076"/>
          <ac:picMkLst>
            <pc:docMk/>
            <pc:sldMk cId="2570537794" sldId="279"/>
            <ac:picMk id="8" creationId="{F744395D-614A-EDF8-8F09-EA88B761E758}"/>
          </ac:picMkLst>
        </pc:picChg>
      </pc:sldChg>
      <pc:sldChg chg="addSp delSp modSp add mod">
        <pc:chgData name="Corpus, Javier" userId="b37aca27-9fba-4fa8-af6f-2a4c7fd33ba3" providerId="ADAL" clId="{4D69E0C2-0E5B-4BF4-9F01-3BFC28A09224}" dt="2025-02-25T18:52:50.177" v="891" actId="1076"/>
        <pc:sldMkLst>
          <pc:docMk/>
          <pc:sldMk cId="2523101158" sldId="280"/>
        </pc:sldMkLst>
        <pc:picChg chg="add mod">
          <ac:chgData name="Corpus, Javier" userId="b37aca27-9fba-4fa8-af6f-2a4c7fd33ba3" providerId="ADAL" clId="{4D69E0C2-0E5B-4BF4-9F01-3BFC28A09224}" dt="2025-02-25T18:52:50.177" v="891" actId="1076"/>
          <ac:picMkLst>
            <pc:docMk/>
            <pc:sldMk cId="2523101158" sldId="280"/>
            <ac:picMk id="5" creationId="{EBAA9E40-5246-DC5C-0EBD-FFBB7841ACCE}"/>
          </ac:picMkLst>
        </pc:picChg>
        <pc:picChg chg="del">
          <ac:chgData name="Corpus, Javier" userId="b37aca27-9fba-4fa8-af6f-2a4c7fd33ba3" providerId="ADAL" clId="{4D69E0C2-0E5B-4BF4-9F01-3BFC28A09224}" dt="2025-02-25T17:52:13.275" v="24" actId="478"/>
          <ac:picMkLst>
            <pc:docMk/>
            <pc:sldMk cId="2523101158" sldId="280"/>
            <ac:picMk id="7" creationId="{346860B1-3517-9A51-5BB1-86299F61EA67}"/>
          </ac:picMkLst>
        </pc:picChg>
      </pc:sldChg>
      <pc:sldChg chg="modSp add mod">
        <pc:chgData name="Corpus, Javier" userId="b37aca27-9fba-4fa8-af6f-2a4c7fd33ba3" providerId="ADAL" clId="{4D69E0C2-0E5B-4BF4-9F01-3BFC28A09224}" dt="2025-02-25T18:55:50.317" v="903" actId="20577"/>
        <pc:sldMkLst>
          <pc:docMk/>
          <pc:sldMk cId="2943633785" sldId="281"/>
        </pc:sldMkLst>
        <pc:spChg chg="mod">
          <ac:chgData name="Corpus, Javier" userId="b37aca27-9fba-4fa8-af6f-2a4c7fd33ba3" providerId="ADAL" clId="{4D69E0C2-0E5B-4BF4-9F01-3BFC28A09224}" dt="2025-02-25T18:55:50.317" v="903" actId="20577"/>
          <ac:spMkLst>
            <pc:docMk/>
            <pc:sldMk cId="2943633785" sldId="281"/>
            <ac:spMk id="2" creationId="{CE04ADB9-7071-98B4-DE47-ABC98C530F5B}"/>
          </ac:spMkLst>
        </pc:spChg>
      </pc:sldChg>
    </pc:docChg>
  </pc:docChgLst>
  <pc:docChgLst>
    <pc:chgData name="Corpus, Javier" userId="b37aca27-9fba-4fa8-af6f-2a4c7fd33ba3" providerId="ADAL" clId="{B850B2AD-2953-4E37-85EB-1CFD0D3FC912}"/>
    <pc:docChg chg="custSel modSld">
      <pc:chgData name="Corpus, Javier" userId="b37aca27-9fba-4fa8-af6f-2a4c7fd33ba3" providerId="ADAL" clId="{B850B2AD-2953-4E37-85EB-1CFD0D3FC912}" dt="2025-02-26T22:04:15.298" v="381" actId="20577"/>
      <pc:docMkLst>
        <pc:docMk/>
      </pc:docMkLst>
      <pc:sldChg chg="addSp modSp mod">
        <pc:chgData name="Corpus, Javier" userId="b37aca27-9fba-4fa8-af6f-2a4c7fd33ba3" providerId="ADAL" clId="{B850B2AD-2953-4E37-85EB-1CFD0D3FC912}" dt="2025-02-26T22:04:15.298" v="381" actId="20577"/>
        <pc:sldMkLst>
          <pc:docMk/>
          <pc:sldMk cId="3833496988" sldId="282"/>
        </pc:sldMkLst>
        <pc:spChg chg="add mod">
          <ac:chgData name="Corpus, Javier" userId="b37aca27-9fba-4fa8-af6f-2a4c7fd33ba3" providerId="ADAL" clId="{B850B2AD-2953-4E37-85EB-1CFD0D3FC912}" dt="2025-02-26T22:04:15.298" v="381" actId="20577"/>
          <ac:spMkLst>
            <pc:docMk/>
            <pc:sldMk cId="3833496988" sldId="282"/>
            <ac:spMk id="4" creationId="{86DCBD33-EFB0-8DA8-482E-F9649AA9DACD}"/>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48A87A34-81AB-432B-8DAE-1953F412C126}" type="datetimeFigureOut">
              <a:rPr lang="en-US" smtClean="0"/>
              <a:t>2/26/25</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4810480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59346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2/26/25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87462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2/26/25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82875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2/26/25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631582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2/26/25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459677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2/26/25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606077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2/26/25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304552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2/26/25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13531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2/26/25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95431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2/26/25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69439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2/26/25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695366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2/26/25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004269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8A87A34-81AB-432B-8DAE-1953F412C126}" type="datetimeFigureOut">
              <a:rPr lang="en-US" smtClean="0"/>
              <a:pPr/>
              <a:t>2/26/25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904008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8A87A34-81AB-432B-8DAE-1953F412C126}" type="datetimeFigureOut">
              <a:rPr lang="en-US" smtClean="0"/>
              <a:pPr/>
              <a:t>2/26/25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947774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81064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2/26/25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24121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48A87A34-81AB-432B-8DAE-1953F412C126}" type="datetimeFigureOut">
              <a:rPr lang="en-US" smtClean="0"/>
              <a:pPr/>
              <a:t>2/26/25</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80575887"/>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62000"/>
                <a:hueMod val="108000"/>
                <a:satMod val="164000"/>
                <a:lumMod val="69000"/>
              </a:schemeClr>
              <a:schemeClr val="bg1">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grpSp>
        <p:nvGrpSpPr>
          <p:cNvPr id="36" name="Group 35">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37" name="Rectangle 36">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useBgFill="1">
          <p:nvSpPr>
            <p:cNvPr id="38"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txBody>
            <a:bodyPr/>
            <a:lstStyle/>
            <a:p>
              <a:endParaRPr lang="en-US" dirty="0"/>
            </a:p>
          </p:txBody>
        </p:sp>
      </p:grpSp>
      <p:sp>
        <p:nvSpPr>
          <p:cNvPr id="2" name="Title 1">
            <a:extLst>
              <a:ext uri="{FF2B5EF4-FFF2-40B4-BE49-F238E27FC236}">
                <a16:creationId xmlns:a16="http://schemas.microsoft.com/office/drawing/2014/main" id="{952AC804-A9C9-951A-BE85-8BB6FCEBA00E}"/>
              </a:ext>
            </a:extLst>
          </p:cNvPr>
          <p:cNvSpPr>
            <a:spLocks noGrp="1"/>
          </p:cNvSpPr>
          <p:nvPr>
            <p:ph type="ctrTitle"/>
          </p:nvPr>
        </p:nvSpPr>
        <p:spPr>
          <a:xfrm>
            <a:off x="4678420" y="1221260"/>
            <a:ext cx="5454121" cy="4415481"/>
          </a:xfrm>
        </p:spPr>
        <p:txBody>
          <a:bodyPr anchor="ctr">
            <a:normAutofit/>
          </a:bodyPr>
          <a:lstStyle/>
          <a:p>
            <a:r>
              <a:rPr lang="en-US" dirty="0">
                <a:solidFill>
                  <a:schemeClr val="tx1">
                    <a:lumMod val="65000"/>
                    <a:lumOff val="35000"/>
                  </a:schemeClr>
                </a:solidFill>
              </a:rPr>
              <a:t>Individual age of death and related factors</a:t>
            </a:r>
          </a:p>
        </p:txBody>
      </p:sp>
      <p:sp>
        <p:nvSpPr>
          <p:cNvPr id="3" name="Subtitle 2">
            <a:extLst>
              <a:ext uri="{FF2B5EF4-FFF2-40B4-BE49-F238E27FC236}">
                <a16:creationId xmlns:a16="http://schemas.microsoft.com/office/drawing/2014/main" id="{054FCDD1-DFB4-F7FF-69FC-BD56F61D1037}"/>
              </a:ext>
            </a:extLst>
          </p:cNvPr>
          <p:cNvSpPr>
            <a:spLocks noGrp="1"/>
          </p:cNvSpPr>
          <p:nvPr>
            <p:ph type="subTitle" idx="1"/>
          </p:nvPr>
        </p:nvSpPr>
        <p:spPr>
          <a:xfrm>
            <a:off x="741420" y="1377298"/>
            <a:ext cx="3283506" cy="4259443"/>
          </a:xfrm>
        </p:spPr>
        <p:txBody>
          <a:bodyPr anchor="ctr">
            <a:normAutofit/>
          </a:bodyPr>
          <a:lstStyle/>
          <a:p>
            <a:pPr algn="r"/>
            <a:r>
              <a:rPr lang="en-US" sz="2000" dirty="0">
                <a:solidFill>
                  <a:schemeClr val="tx1">
                    <a:lumMod val="65000"/>
                    <a:lumOff val="35000"/>
                  </a:schemeClr>
                </a:solidFill>
              </a:rPr>
              <a:t>Javier corpus</a:t>
            </a:r>
          </a:p>
          <a:p>
            <a:pPr algn="r"/>
            <a:r>
              <a:rPr lang="en-US" sz="2000" dirty="0">
                <a:solidFill>
                  <a:schemeClr val="tx1">
                    <a:lumMod val="65000"/>
                    <a:lumOff val="35000"/>
                  </a:schemeClr>
                </a:solidFill>
              </a:rPr>
              <a:t>Week 12, exercise 12.2</a:t>
            </a:r>
          </a:p>
          <a:p>
            <a:pPr algn="r"/>
            <a:endParaRPr lang="en-US" sz="2000" dirty="0">
              <a:solidFill>
                <a:schemeClr val="tx1">
                  <a:lumMod val="65000"/>
                  <a:lumOff val="35000"/>
                </a:schemeClr>
              </a:solidFill>
            </a:endParaRPr>
          </a:p>
          <a:p>
            <a:pPr algn="r"/>
            <a:r>
              <a:rPr lang="en-US" sz="2000" dirty="0">
                <a:solidFill>
                  <a:schemeClr val="tx1">
                    <a:lumMod val="65000"/>
                    <a:lumOff val="35000"/>
                  </a:schemeClr>
                </a:solidFill>
              </a:rPr>
              <a:t>DSC530-T302 Data Exploration and Analysis</a:t>
            </a:r>
          </a:p>
          <a:p>
            <a:pPr algn="r"/>
            <a:endParaRPr lang="en-US" sz="2000" dirty="0">
              <a:solidFill>
                <a:schemeClr val="tx1">
                  <a:lumMod val="65000"/>
                  <a:lumOff val="35000"/>
                </a:schemeClr>
              </a:solidFill>
            </a:endParaRPr>
          </a:p>
          <a:p>
            <a:pPr algn="r"/>
            <a:r>
              <a:rPr lang="en-US" sz="2000" dirty="0">
                <a:solidFill>
                  <a:schemeClr val="tx1">
                    <a:lumMod val="65000"/>
                    <a:lumOff val="35000"/>
                  </a:schemeClr>
                </a:solidFill>
              </a:rPr>
              <a:t>Matthew Metzger</a:t>
            </a:r>
          </a:p>
          <a:p>
            <a:pPr algn="r"/>
            <a:r>
              <a:rPr lang="en-US" sz="2000" dirty="0">
                <a:solidFill>
                  <a:schemeClr val="tx1">
                    <a:lumMod val="65000"/>
                    <a:lumOff val="35000"/>
                  </a:schemeClr>
                </a:solidFill>
              </a:rPr>
              <a:t>March 1, 2025 </a:t>
            </a:r>
          </a:p>
        </p:txBody>
      </p:sp>
      <p:cxnSp>
        <p:nvCxnSpPr>
          <p:cNvPr id="40" name="Straight Connector 39">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accent1">
                <a:lumMod val="75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4088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52785423-50FB-FB1E-91FD-FB35FAFACB1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F3CE53A-C35B-EAE8-FB8E-428D1BA54D59}"/>
              </a:ext>
            </a:extLst>
          </p:cNvPr>
          <p:cNvSpPr txBox="1"/>
          <p:nvPr/>
        </p:nvSpPr>
        <p:spPr>
          <a:xfrm>
            <a:off x="407773" y="160639"/>
            <a:ext cx="2464136" cy="769441"/>
          </a:xfrm>
          <a:prstGeom prst="rect">
            <a:avLst/>
          </a:prstGeom>
          <a:noFill/>
        </p:spPr>
        <p:txBody>
          <a:bodyPr wrap="none" rtlCol="0">
            <a:spAutoFit/>
          </a:bodyPr>
          <a:lstStyle/>
          <a:p>
            <a:r>
              <a:rPr lang="en-US" sz="4400" dirty="0">
                <a:solidFill>
                  <a:schemeClr val="tx1">
                    <a:lumMod val="65000"/>
                    <a:lumOff val="35000"/>
                  </a:schemeClr>
                </a:solidFill>
              </a:rPr>
              <a:t>Agenda</a:t>
            </a:r>
          </a:p>
        </p:txBody>
      </p:sp>
      <p:cxnSp>
        <p:nvCxnSpPr>
          <p:cNvPr id="4" name="Straight Connector 3">
            <a:extLst>
              <a:ext uri="{FF2B5EF4-FFF2-40B4-BE49-F238E27FC236}">
                <a16:creationId xmlns:a16="http://schemas.microsoft.com/office/drawing/2014/main" id="{E5BDF41F-BAB2-AFF4-03BF-1CB64DFF1E10}"/>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09FA99AF-0151-7B05-8DCD-CD12146BEB3E}"/>
              </a:ext>
            </a:extLst>
          </p:cNvPr>
          <p:cNvGraphicFramePr>
            <a:graphicFrameLocks noGrp="1"/>
          </p:cNvGraphicFramePr>
          <p:nvPr>
            <p:extLst>
              <p:ext uri="{D42A27DB-BD31-4B8C-83A1-F6EECF244321}">
                <p14:modId xmlns:p14="http://schemas.microsoft.com/office/powerpoint/2010/main" val="3362483128"/>
              </p:ext>
            </p:extLst>
          </p:nvPr>
        </p:nvGraphicFramePr>
        <p:xfrm>
          <a:off x="407773" y="1596996"/>
          <a:ext cx="6141308" cy="4114800"/>
        </p:xfrm>
        <a:graphic>
          <a:graphicData uri="http://schemas.openxmlformats.org/drawingml/2006/table">
            <a:tbl>
              <a:tblPr firstRow="1" bandRow="1">
                <a:tableStyleId>{2D5ABB26-0587-4C30-8999-92F81FD0307C}</a:tableStyleId>
              </a:tblPr>
              <a:tblGrid>
                <a:gridCol w="6141308">
                  <a:extLst>
                    <a:ext uri="{9D8B030D-6E8A-4147-A177-3AD203B41FA5}">
                      <a16:colId xmlns:a16="http://schemas.microsoft.com/office/drawing/2014/main" val="1014037043"/>
                    </a:ext>
                  </a:extLst>
                </a:gridCol>
              </a:tblGrid>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Introduction</a:t>
                      </a:r>
                    </a:p>
                  </a:txBody>
                  <a:tcPr>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946580507"/>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Variables</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560996145"/>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Probability Mass Function (PMF)</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300958282"/>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Cumulative Distribution Function (CDF)</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649167172"/>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Normal Probability Plot</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50570317"/>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Scatter Plots</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3202071769"/>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Hypothesis Tests</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2953398692"/>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Regression Analysis</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4218835260"/>
                  </a:ext>
                </a:extLst>
              </a:tr>
              <a:tr h="370840">
                <a:tc>
                  <a:txBody>
                    <a:bodyPr/>
                    <a:lstStyle/>
                    <a:p>
                      <a:r>
                        <a:rPr lang="en-US" sz="2400" b="0" i="0" dirty="0">
                          <a:solidFill>
                            <a:schemeClr val="tx1">
                              <a:lumMod val="65000"/>
                              <a:lumOff val="35000"/>
                            </a:schemeClr>
                          </a:solidFill>
                          <a:latin typeface="Calibri" panose="020F0502020204030204" pitchFamily="34" charset="0"/>
                          <a:cs typeface="Calibri" panose="020F0502020204030204" pitchFamily="34" charset="0"/>
                        </a:rPr>
                        <a:t>Conclusion</a:t>
                      </a:r>
                    </a:p>
                  </a:txBody>
                  <a:tcPr>
                    <a:lnT w="12700" cap="flat" cmpd="sng" algn="ctr">
                      <a:solidFill>
                        <a:schemeClr val="bg2">
                          <a:lumMod val="75000"/>
                        </a:schemeClr>
                      </a:solidFill>
                      <a:prstDash val="solid"/>
                      <a:round/>
                      <a:headEnd type="none" w="med" len="med"/>
                      <a:tailEnd type="none" w="med" len="med"/>
                    </a:lnT>
                    <a:lnB w="12700" cap="flat" cmpd="sng" algn="ctr">
                      <a:solidFill>
                        <a:schemeClr val="bg2">
                          <a:lumMod val="75000"/>
                        </a:schemeClr>
                      </a:solidFill>
                      <a:prstDash val="solid"/>
                      <a:round/>
                      <a:headEnd type="none" w="med" len="med"/>
                      <a:tailEnd type="none" w="med" len="med"/>
                    </a:lnB>
                  </a:tcPr>
                </a:tc>
                <a:extLst>
                  <a:ext uri="{0D108BD9-81ED-4DB2-BD59-A6C34878D82A}">
                    <a16:rowId xmlns:a16="http://schemas.microsoft.com/office/drawing/2014/main" val="1848396220"/>
                  </a:ext>
                </a:extLst>
              </a:tr>
            </a:tbl>
          </a:graphicData>
        </a:graphic>
      </p:graphicFrame>
    </p:spTree>
    <p:extLst>
      <p:ext uri="{BB962C8B-B14F-4D97-AF65-F5344CB8AC3E}">
        <p14:creationId xmlns:p14="http://schemas.microsoft.com/office/powerpoint/2010/main" val="4142350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36D14D13-C7B9-317C-18BA-895B58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2557C2D-D72B-20A2-4430-3BE5C4C18440}"/>
              </a:ext>
            </a:extLst>
          </p:cNvPr>
          <p:cNvSpPr txBox="1"/>
          <p:nvPr/>
        </p:nvSpPr>
        <p:spPr>
          <a:xfrm>
            <a:off x="407773" y="160639"/>
            <a:ext cx="3498073" cy="769441"/>
          </a:xfrm>
          <a:prstGeom prst="rect">
            <a:avLst/>
          </a:prstGeom>
          <a:noFill/>
        </p:spPr>
        <p:txBody>
          <a:bodyPr wrap="none" rtlCol="0">
            <a:spAutoFit/>
          </a:bodyPr>
          <a:lstStyle/>
          <a:p>
            <a:r>
              <a:rPr lang="en-US" sz="4400" dirty="0">
                <a:solidFill>
                  <a:schemeClr val="tx1">
                    <a:lumMod val="65000"/>
                    <a:lumOff val="35000"/>
                  </a:schemeClr>
                </a:solidFill>
              </a:rPr>
              <a:t>Introduction</a:t>
            </a:r>
          </a:p>
        </p:txBody>
      </p:sp>
      <p:cxnSp>
        <p:nvCxnSpPr>
          <p:cNvPr id="4" name="Straight Connector 3">
            <a:extLst>
              <a:ext uri="{FF2B5EF4-FFF2-40B4-BE49-F238E27FC236}">
                <a16:creationId xmlns:a16="http://schemas.microsoft.com/office/drawing/2014/main" id="{F6044777-6F2F-7A72-4537-5F01949584C3}"/>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A30A2E9-6957-BC94-2D85-937970387ADA}"/>
              </a:ext>
            </a:extLst>
          </p:cNvPr>
          <p:cNvSpPr txBox="1"/>
          <p:nvPr/>
        </p:nvSpPr>
        <p:spPr>
          <a:xfrm>
            <a:off x="407774" y="1145640"/>
            <a:ext cx="11392929" cy="5239383"/>
          </a:xfrm>
          <a:prstGeom prst="rect">
            <a:avLst/>
          </a:prstGeom>
          <a:noFill/>
        </p:spPr>
        <p:txBody>
          <a:bodyPr wrap="square" rtlCol="0">
            <a:spAutoFit/>
          </a:bodyPr>
          <a:lstStyle/>
          <a:p>
            <a:pPr marL="0" marR="0">
              <a:lnSpc>
                <a:spcPct val="115000"/>
              </a:lnSpc>
              <a:spcAft>
                <a:spcPts val="800"/>
              </a:spcAft>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In the realm of public health, understanding the factors that influence mortality is crucial for developing effective health information. The dataset used in this project provides a diverse number of variables, including age of death, weight, gender, smoker status, number of medications taken, number of drinks per week, and cholesterol level. By analyzing these factors, we can gain insights into how lifestyle choices and health metrics correlate with longevity. This analysis can help answering the following questions: </a:t>
            </a:r>
          </a:p>
          <a:p>
            <a:pPr marL="342900" marR="0" lvl="0" indent="-342900">
              <a:lnSpc>
                <a:spcPct val="115000"/>
              </a:lnSpc>
              <a:buFont typeface="+mj-lt"/>
              <a:buAutoNum type="arabicPeriod"/>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Is it more probable to have male smokers than female smokers at any given age?</a:t>
            </a:r>
          </a:p>
          <a:p>
            <a:pPr marL="342900" marR="0" lvl="0" indent="-342900">
              <a:lnSpc>
                <a:spcPct val="115000"/>
              </a:lnSpc>
              <a:buFont typeface="+mj-lt"/>
              <a:buAutoNum type="arabicPeriod"/>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Do male smokers have more drinks per week than female smokers?</a:t>
            </a:r>
          </a:p>
          <a:p>
            <a:pPr marL="342900" marR="0" lvl="0" indent="-342900">
              <a:lnSpc>
                <a:spcPct val="115000"/>
              </a:lnSpc>
              <a:buFont typeface="+mj-lt"/>
              <a:buAutoNum type="arabicPeriod"/>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Do male smokers die more frequently than non-smokers of the same age?</a:t>
            </a:r>
          </a:p>
          <a:p>
            <a:pPr marL="342900" marR="0" lvl="0" indent="-342900">
              <a:lnSpc>
                <a:spcPct val="115000"/>
              </a:lnSpc>
              <a:buFont typeface="+mj-lt"/>
              <a:buAutoNum type="arabicPeriod"/>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Do female smokers die more frequently than non-smokers of the same age?</a:t>
            </a:r>
          </a:p>
          <a:p>
            <a:pPr marL="342900" marR="0" lvl="0" indent="-342900">
              <a:lnSpc>
                <a:spcPct val="115000"/>
              </a:lnSpc>
              <a:buFont typeface="+mj-lt"/>
              <a:buAutoNum type="arabicPeriod"/>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Is weight related to the cholesterol level?</a:t>
            </a:r>
          </a:p>
          <a:p>
            <a:pPr marL="342900" marR="0" lvl="0" indent="-342900">
              <a:lnSpc>
                <a:spcPct val="115000"/>
              </a:lnSpc>
              <a:buFont typeface="+mj-lt"/>
              <a:buAutoNum type="arabicPeriod"/>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Is weight related to the number of drinks consumed?</a:t>
            </a:r>
          </a:p>
          <a:p>
            <a:pPr marL="342900" marR="0" lvl="0" indent="-342900">
              <a:lnSpc>
                <a:spcPct val="115000"/>
              </a:lnSpc>
              <a:spcAft>
                <a:spcPts val="800"/>
              </a:spcAft>
              <a:buFont typeface="+mj-lt"/>
              <a:buAutoNum type="arabicPeriod"/>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Is it possible to predict the age of death based on smoking or drinking habits?</a:t>
            </a:r>
          </a:p>
          <a:p>
            <a:pPr marL="0" marR="0">
              <a:lnSpc>
                <a:spcPct val="115000"/>
              </a:lnSpc>
              <a:spcAft>
                <a:spcPts val="800"/>
              </a:spcAft>
            </a:pPr>
            <a:r>
              <a:rPr lang="en-US" b="1"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Assumption:</a:t>
            </a:r>
          </a:p>
          <a:p>
            <a:pPr marL="0" marR="0">
              <a:lnSpc>
                <a:spcPct val="115000"/>
              </a:lnSpc>
              <a:spcAft>
                <a:spcPts val="800"/>
              </a:spcAft>
            </a:pPr>
            <a:r>
              <a:rPr lang="en-US" kern="100" dirty="0">
                <a:solidFill>
                  <a:schemeClr val="tx1">
                    <a:lumMod val="65000"/>
                    <a:lumOff val="35000"/>
                  </a:schemeClr>
                </a:solidFill>
                <a:effectLst/>
                <a:latin typeface="Calibri" panose="020F0502020204030204" pitchFamily="34" charset="0"/>
                <a:ea typeface="Aptos" panose="020B0004020202020204" pitchFamily="34" charset="0"/>
                <a:cs typeface="Calibri" panose="020F0502020204030204" pitchFamily="34" charset="0"/>
              </a:rPr>
              <a:t>All the individuals in the dataset died of natural causes/diseases. </a:t>
            </a:r>
          </a:p>
          <a:p>
            <a:endParaRPr lang="en-US" dirty="0">
              <a:solidFill>
                <a:schemeClr val="tx1">
                  <a:lumMod val="65000"/>
                  <a:lumOff val="3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33064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577FE15C-E7B8-011E-0B72-EB8CF5AD7D9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834C4C-BB4F-6E70-95C0-7CCD1A69324B}"/>
              </a:ext>
            </a:extLst>
          </p:cNvPr>
          <p:cNvSpPr txBox="1"/>
          <p:nvPr/>
        </p:nvSpPr>
        <p:spPr>
          <a:xfrm>
            <a:off x="407773" y="160639"/>
            <a:ext cx="6535764" cy="769441"/>
          </a:xfrm>
          <a:prstGeom prst="rect">
            <a:avLst/>
          </a:prstGeom>
          <a:noFill/>
        </p:spPr>
        <p:txBody>
          <a:bodyPr wrap="none" rtlCol="0">
            <a:spAutoFit/>
          </a:bodyPr>
          <a:lstStyle/>
          <a:p>
            <a:r>
              <a:rPr lang="en-US" sz="4400" dirty="0">
                <a:solidFill>
                  <a:schemeClr val="tx1">
                    <a:lumMod val="65000"/>
                    <a:lumOff val="35000"/>
                  </a:schemeClr>
                </a:solidFill>
              </a:rPr>
              <a:t>Variable: Age of Death</a:t>
            </a:r>
          </a:p>
        </p:txBody>
      </p:sp>
      <p:cxnSp>
        <p:nvCxnSpPr>
          <p:cNvPr id="4" name="Straight Connector 3">
            <a:extLst>
              <a:ext uri="{FF2B5EF4-FFF2-40B4-BE49-F238E27FC236}">
                <a16:creationId xmlns:a16="http://schemas.microsoft.com/office/drawing/2014/main" id="{8DC96CE5-CD8E-4BF6-F5D9-97DF11EAC695}"/>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B67DEFB3-2448-81B5-21FD-D7B6D8CC056A}"/>
              </a:ext>
            </a:extLst>
          </p:cNvPr>
          <p:cNvSpPr txBox="1"/>
          <p:nvPr/>
        </p:nvSpPr>
        <p:spPr>
          <a:xfrm>
            <a:off x="543697" y="1383957"/>
            <a:ext cx="2595262" cy="769441"/>
          </a:xfrm>
          <a:prstGeom prst="rect">
            <a:avLst/>
          </a:prstGeom>
          <a:noFill/>
        </p:spPr>
        <p:txBody>
          <a:bodyPr wrap="none" rtlCol="0">
            <a:spAutoFit/>
          </a:bodyPr>
          <a:lstStyle/>
          <a:p>
            <a:r>
              <a:rPr lang="en-US" sz="1600" b="1" dirty="0">
                <a:solidFill>
                  <a:schemeClr val="tx1">
                    <a:lumMod val="65000"/>
                    <a:lumOff val="35000"/>
                  </a:schemeClr>
                </a:solidFill>
              </a:rPr>
              <a:t>Variable Meaning:</a:t>
            </a:r>
          </a:p>
          <a:p>
            <a:r>
              <a:rPr lang="en-US" sz="1400" dirty="0">
                <a:solidFill>
                  <a:schemeClr val="tx1">
                    <a:lumMod val="65000"/>
                    <a:lumOff val="35000"/>
                  </a:schemeClr>
                </a:solidFill>
                <a:latin typeface="Calibri" panose="020F0502020204030204" pitchFamily="34" charset="0"/>
                <a:cs typeface="Calibri" panose="020F0502020204030204" pitchFamily="34" charset="0"/>
              </a:rPr>
              <a:t>Age (in years) when an individual</a:t>
            </a:r>
          </a:p>
          <a:p>
            <a:r>
              <a:rPr lang="en-US" sz="1400" dirty="0">
                <a:solidFill>
                  <a:schemeClr val="tx1">
                    <a:lumMod val="65000"/>
                    <a:lumOff val="35000"/>
                  </a:schemeClr>
                </a:solidFill>
                <a:latin typeface="Calibri" panose="020F0502020204030204" pitchFamily="34" charset="0"/>
                <a:cs typeface="Calibri" panose="020F0502020204030204" pitchFamily="34" charset="0"/>
              </a:rPr>
              <a:t>passed away.</a:t>
            </a:r>
          </a:p>
        </p:txBody>
      </p:sp>
      <p:sp>
        <p:nvSpPr>
          <p:cNvPr id="6" name="TextBox 5">
            <a:extLst>
              <a:ext uri="{FF2B5EF4-FFF2-40B4-BE49-F238E27FC236}">
                <a16:creationId xmlns:a16="http://schemas.microsoft.com/office/drawing/2014/main" id="{BE75E07B-7A50-BFBF-1592-D99E3989BBAB}"/>
              </a:ext>
            </a:extLst>
          </p:cNvPr>
          <p:cNvSpPr txBox="1"/>
          <p:nvPr/>
        </p:nvSpPr>
        <p:spPr>
          <a:xfrm>
            <a:off x="543697" y="2644279"/>
            <a:ext cx="2888932" cy="338554"/>
          </a:xfrm>
          <a:prstGeom prst="rect">
            <a:avLst/>
          </a:prstGeom>
          <a:noFill/>
        </p:spPr>
        <p:txBody>
          <a:bodyPr wrap="none" rtlCol="0">
            <a:spAutoFit/>
          </a:bodyPr>
          <a:lstStyle/>
          <a:p>
            <a:r>
              <a:rPr lang="en-US" sz="1600" b="1" dirty="0">
                <a:solidFill>
                  <a:schemeClr val="tx1">
                    <a:lumMod val="65000"/>
                    <a:lumOff val="35000"/>
                  </a:schemeClr>
                </a:solidFill>
              </a:rPr>
              <a:t>Descriptive Characteristics:</a:t>
            </a:r>
          </a:p>
        </p:txBody>
      </p:sp>
      <p:sp>
        <p:nvSpPr>
          <p:cNvPr id="7" name="TextBox 6">
            <a:extLst>
              <a:ext uri="{FF2B5EF4-FFF2-40B4-BE49-F238E27FC236}">
                <a16:creationId xmlns:a16="http://schemas.microsoft.com/office/drawing/2014/main" id="{491BE05D-748B-AEBC-6A11-BD4F1AF8BD7E}"/>
              </a:ext>
            </a:extLst>
          </p:cNvPr>
          <p:cNvSpPr txBox="1"/>
          <p:nvPr/>
        </p:nvSpPr>
        <p:spPr>
          <a:xfrm>
            <a:off x="543696" y="4812804"/>
            <a:ext cx="3622145" cy="1631216"/>
          </a:xfrm>
          <a:prstGeom prst="rect">
            <a:avLst/>
          </a:prstGeom>
          <a:noFill/>
        </p:spPr>
        <p:txBody>
          <a:bodyPr wrap="none" rtlCol="0">
            <a:spAutoFit/>
          </a:bodyPr>
          <a:lstStyle/>
          <a:p>
            <a:r>
              <a:rPr lang="en-US" sz="1600" b="1" dirty="0">
                <a:solidFill>
                  <a:schemeClr val="tx1">
                    <a:lumMod val="65000"/>
                    <a:lumOff val="35000"/>
                  </a:schemeClr>
                </a:solidFill>
              </a:rPr>
              <a:t>Analysis:</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There are really no outliers, but there are</a:t>
            </a:r>
          </a:p>
          <a:p>
            <a:r>
              <a:rPr lang="en-US" sz="1400" dirty="0">
                <a:solidFill>
                  <a:schemeClr val="tx1">
                    <a:lumMod val="65000"/>
                    <a:lumOff val="35000"/>
                  </a:schemeClr>
                </a:solidFill>
                <a:latin typeface="Calibri" panose="020F0502020204030204" pitchFamily="34" charset="0"/>
                <a:cs typeface="Calibri" panose="020F0502020204030204" pitchFamily="34" charset="0"/>
              </a:rPr>
              <a:t>some interesting peaks all along the histogram.</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There is a surprisingly high number of people</a:t>
            </a:r>
          </a:p>
          <a:p>
            <a:r>
              <a:rPr lang="en-US" sz="1400" dirty="0">
                <a:solidFill>
                  <a:schemeClr val="tx1">
                    <a:lumMod val="65000"/>
                    <a:lumOff val="35000"/>
                  </a:schemeClr>
                </a:solidFill>
                <a:latin typeface="Calibri" panose="020F0502020204030204" pitchFamily="34" charset="0"/>
                <a:cs typeface="Calibri" panose="020F0502020204030204" pitchFamily="34" charset="0"/>
              </a:rPr>
              <a:t>who died at a young age, and an even more</a:t>
            </a:r>
          </a:p>
          <a:p>
            <a:r>
              <a:rPr lang="en-US" sz="1400" dirty="0">
                <a:solidFill>
                  <a:schemeClr val="tx1">
                    <a:lumMod val="65000"/>
                    <a:lumOff val="35000"/>
                  </a:schemeClr>
                </a:solidFill>
                <a:latin typeface="Calibri" panose="020F0502020204030204" pitchFamily="34" charset="0"/>
                <a:cs typeface="Calibri" panose="020F0502020204030204" pitchFamily="34" charset="0"/>
              </a:rPr>
              <a:t>surprisingly number of people who lived after</a:t>
            </a:r>
          </a:p>
          <a:p>
            <a:r>
              <a:rPr lang="en-US" sz="1400" dirty="0">
                <a:solidFill>
                  <a:schemeClr val="tx1">
                    <a:lumMod val="65000"/>
                    <a:lumOff val="35000"/>
                  </a:schemeClr>
                </a:solidFill>
                <a:latin typeface="Calibri" panose="020F0502020204030204" pitchFamily="34" charset="0"/>
                <a:cs typeface="Calibri" panose="020F0502020204030204" pitchFamily="34" charset="0"/>
              </a:rPr>
              <a:t>100 years.</a:t>
            </a:r>
          </a:p>
        </p:txBody>
      </p:sp>
      <p:graphicFrame>
        <p:nvGraphicFramePr>
          <p:cNvPr id="8" name="Table 7">
            <a:extLst>
              <a:ext uri="{FF2B5EF4-FFF2-40B4-BE49-F238E27FC236}">
                <a16:creationId xmlns:a16="http://schemas.microsoft.com/office/drawing/2014/main" id="{A4190FE4-FFEC-E9CF-2F0A-360236BAF650}"/>
              </a:ext>
            </a:extLst>
          </p:cNvPr>
          <p:cNvGraphicFramePr>
            <a:graphicFrameLocks noGrp="1"/>
          </p:cNvGraphicFramePr>
          <p:nvPr>
            <p:extLst>
              <p:ext uri="{D42A27DB-BD31-4B8C-83A1-F6EECF244321}">
                <p14:modId xmlns:p14="http://schemas.microsoft.com/office/powerpoint/2010/main" val="155486364"/>
              </p:ext>
            </p:extLst>
          </p:nvPr>
        </p:nvGraphicFramePr>
        <p:xfrm>
          <a:off x="543696" y="3040246"/>
          <a:ext cx="3255306" cy="1594652"/>
        </p:xfrm>
        <a:graphic>
          <a:graphicData uri="http://schemas.openxmlformats.org/drawingml/2006/table">
            <a:tbl>
              <a:tblPr firstRow="1" bandRow="1">
                <a:noFill/>
                <a:tableStyleId>{2D5ABB26-0587-4C30-8999-92F81FD0307C}</a:tableStyleId>
              </a:tblPr>
              <a:tblGrid>
                <a:gridCol w="2026789">
                  <a:extLst>
                    <a:ext uri="{9D8B030D-6E8A-4147-A177-3AD203B41FA5}">
                      <a16:colId xmlns:a16="http://schemas.microsoft.com/office/drawing/2014/main" val="1845745399"/>
                    </a:ext>
                  </a:extLst>
                </a:gridCol>
                <a:gridCol w="1228517">
                  <a:extLst>
                    <a:ext uri="{9D8B030D-6E8A-4147-A177-3AD203B41FA5}">
                      <a16:colId xmlns:a16="http://schemas.microsoft.com/office/drawing/2014/main" val="2911684126"/>
                    </a:ext>
                  </a:extLst>
                </a:gridCol>
              </a:tblGrid>
              <a:tr h="214940">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Median: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64</a:t>
                      </a:r>
                    </a:p>
                  </a:txBody>
                  <a:tcPr>
                    <a:noFill/>
                  </a:tcPr>
                </a:tc>
                <a:extLst>
                  <a:ext uri="{0D108BD9-81ED-4DB2-BD59-A6C34878D82A}">
                    <a16:rowId xmlns:a16="http://schemas.microsoft.com/office/drawing/2014/main" val="3504164141"/>
                  </a:ext>
                </a:extLst>
              </a:tr>
              <a:tr h="255993">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64.64</a:t>
                      </a:r>
                    </a:p>
                  </a:txBody>
                  <a:tcPr>
                    <a:noFill/>
                  </a:tcPr>
                </a:tc>
                <a:extLst>
                  <a:ext uri="{0D108BD9-81ED-4DB2-BD59-A6C34878D82A}">
                    <a16:rowId xmlns:a16="http://schemas.microsoft.com/office/drawing/2014/main" val="3788616436"/>
                  </a:ext>
                </a:extLst>
              </a:tr>
              <a:tr h="309412">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Spread:</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537.89</a:t>
                      </a:r>
                    </a:p>
                  </a:txBody>
                  <a:tcPr>
                    <a:noFill/>
                  </a:tcPr>
                </a:tc>
                <a:extLst>
                  <a:ext uri="{0D108BD9-81ED-4DB2-BD59-A6C34878D82A}">
                    <a16:rowId xmlns:a16="http://schemas.microsoft.com/office/drawing/2014/main" val="357476479"/>
                  </a:ext>
                </a:extLst>
              </a:tr>
              <a:tr h="292231">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0.19</a:t>
                      </a:r>
                    </a:p>
                  </a:txBody>
                  <a:tcPr>
                    <a:noFill/>
                  </a:tcPr>
                </a:tc>
                <a:extLst>
                  <a:ext uri="{0D108BD9-81ED-4DB2-BD59-A6C34878D82A}">
                    <a16:rowId xmlns:a16="http://schemas.microsoft.com/office/drawing/2014/main" val="329670810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lumMod val="65000"/>
                              <a:lumOff val="35000"/>
                            </a:schemeClr>
                          </a:solidFill>
                          <a:latin typeface="Calibri" panose="020F0502020204030204" pitchFamily="34" charset="0"/>
                          <a:cs typeface="Calibri" panose="020F0502020204030204" pitchFamily="34" charset="0"/>
                        </a:rPr>
                        <a:t>Pearson’s 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0.08</a:t>
                      </a:r>
                    </a:p>
                  </a:txBody>
                  <a:tcPr>
                    <a:noFill/>
                  </a:tcPr>
                </a:tc>
                <a:extLst>
                  <a:ext uri="{0D108BD9-81ED-4DB2-BD59-A6C34878D82A}">
                    <a16:rowId xmlns:a16="http://schemas.microsoft.com/office/drawing/2014/main" val="680240679"/>
                  </a:ext>
                </a:extLst>
              </a:tr>
            </a:tbl>
          </a:graphicData>
        </a:graphic>
      </p:graphicFrame>
      <p:pic>
        <p:nvPicPr>
          <p:cNvPr id="9" name="Picture 8">
            <a:extLst>
              <a:ext uri="{FF2B5EF4-FFF2-40B4-BE49-F238E27FC236}">
                <a16:creationId xmlns:a16="http://schemas.microsoft.com/office/drawing/2014/main" id="{EDFDF984-44A4-AF34-9D27-AE39E74D7CBE}"/>
              </a:ext>
            </a:extLst>
          </p:cNvPr>
          <p:cNvPicPr>
            <a:picLocks noChangeAspect="1"/>
          </p:cNvPicPr>
          <p:nvPr/>
        </p:nvPicPr>
        <p:blipFill>
          <a:blip r:embed="rId2"/>
          <a:stretch>
            <a:fillRect/>
          </a:stretch>
        </p:blipFill>
        <p:spPr>
          <a:xfrm>
            <a:off x="4028303" y="1381601"/>
            <a:ext cx="7772400" cy="5001767"/>
          </a:xfrm>
          <a:prstGeom prst="rect">
            <a:avLst/>
          </a:prstGeom>
        </p:spPr>
      </p:pic>
    </p:spTree>
    <p:extLst>
      <p:ext uri="{BB962C8B-B14F-4D97-AF65-F5344CB8AC3E}">
        <p14:creationId xmlns:p14="http://schemas.microsoft.com/office/powerpoint/2010/main" val="1164211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EE5FFDAA-EB72-0DF5-D09A-732062511B6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E0D275D-763C-5ECE-4D4D-BC421089D12D}"/>
              </a:ext>
            </a:extLst>
          </p:cNvPr>
          <p:cNvSpPr txBox="1"/>
          <p:nvPr/>
        </p:nvSpPr>
        <p:spPr>
          <a:xfrm>
            <a:off x="407773" y="160639"/>
            <a:ext cx="9871613" cy="769441"/>
          </a:xfrm>
          <a:prstGeom prst="rect">
            <a:avLst/>
          </a:prstGeom>
          <a:noFill/>
        </p:spPr>
        <p:txBody>
          <a:bodyPr wrap="none" rtlCol="0">
            <a:spAutoFit/>
          </a:bodyPr>
          <a:lstStyle/>
          <a:p>
            <a:r>
              <a:rPr lang="en-US" sz="4400" dirty="0">
                <a:solidFill>
                  <a:schemeClr val="tx1">
                    <a:lumMod val="65000"/>
                    <a:lumOff val="35000"/>
                  </a:schemeClr>
                </a:solidFill>
              </a:rPr>
              <a:t>Variable: Alcoholic Drinks per Week</a:t>
            </a:r>
          </a:p>
        </p:txBody>
      </p:sp>
      <p:cxnSp>
        <p:nvCxnSpPr>
          <p:cNvPr id="4" name="Straight Connector 3">
            <a:extLst>
              <a:ext uri="{FF2B5EF4-FFF2-40B4-BE49-F238E27FC236}">
                <a16:creationId xmlns:a16="http://schemas.microsoft.com/office/drawing/2014/main" id="{AEF51F8D-161D-4266-B0EF-CCAABB377919}"/>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B5BEAE1-60A9-438D-3E6C-FCB9988BC69F}"/>
              </a:ext>
            </a:extLst>
          </p:cNvPr>
          <p:cNvSpPr txBox="1"/>
          <p:nvPr/>
        </p:nvSpPr>
        <p:spPr>
          <a:xfrm>
            <a:off x="543697" y="1383957"/>
            <a:ext cx="2768707" cy="769441"/>
          </a:xfrm>
          <a:prstGeom prst="rect">
            <a:avLst/>
          </a:prstGeom>
          <a:noFill/>
        </p:spPr>
        <p:txBody>
          <a:bodyPr wrap="none" rtlCol="0">
            <a:spAutoFit/>
          </a:bodyPr>
          <a:lstStyle/>
          <a:p>
            <a:r>
              <a:rPr lang="en-US" sz="1600" b="1" dirty="0">
                <a:solidFill>
                  <a:schemeClr val="tx1">
                    <a:lumMod val="65000"/>
                    <a:lumOff val="35000"/>
                  </a:schemeClr>
                </a:solidFill>
              </a:rPr>
              <a:t>Variable Meaning:</a:t>
            </a:r>
          </a:p>
          <a:p>
            <a:r>
              <a:rPr lang="en-US" sz="1400" dirty="0">
                <a:solidFill>
                  <a:schemeClr val="tx1">
                    <a:lumMod val="65000"/>
                    <a:lumOff val="35000"/>
                  </a:schemeClr>
                </a:solidFill>
                <a:latin typeface="Calibri" panose="020F0502020204030204" pitchFamily="34" charset="0"/>
                <a:cs typeface="Calibri" panose="020F0502020204030204" pitchFamily="34" charset="0"/>
              </a:rPr>
              <a:t>Number of alcoholic drinks that the</a:t>
            </a:r>
          </a:p>
          <a:p>
            <a:r>
              <a:rPr lang="en-US" sz="1400" dirty="0">
                <a:solidFill>
                  <a:schemeClr val="tx1">
                    <a:lumMod val="65000"/>
                    <a:lumOff val="35000"/>
                  </a:schemeClr>
                </a:solidFill>
                <a:latin typeface="Calibri" panose="020F0502020204030204" pitchFamily="34" charset="0"/>
                <a:cs typeface="Calibri" panose="020F0502020204030204" pitchFamily="34" charset="0"/>
              </a:rPr>
              <a:t>individuals drank per week.</a:t>
            </a:r>
          </a:p>
        </p:txBody>
      </p:sp>
      <p:sp>
        <p:nvSpPr>
          <p:cNvPr id="6" name="TextBox 5">
            <a:extLst>
              <a:ext uri="{FF2B5EF4-FFF2-40B4-BE49-F238E27FC236}">
                <a16:creationId xmlns:a16="http://schemas.microsoft.com/office/drawing/2014/main" id="{74922F49-2793-1F62-C0FF-DDB2786B22F0}"/>
              </a:ext>
            </a:extLst>
          </p:cNvPr>
          <p:cNvSpPr txBox="1"/>
          <p:nvPr/>
        </p:nvSpPr>
        <p:spPr>
          <a:xfrm>
            <a:off x="543697" y="2644279"/>
            <a:ext cx="2888932" cy="338554"/>
          </a:xfrm>
          <a:prstGeom prst="rect">
            <a:avLst/>
          </a:prstGeom>
          <a:noFill/>
        </p:spPr>
        <p:txBody>
          <a:bodyPr wrap="none" rtlCol="0">
            <a:spAutoFit/>
          </a:bodyPr>
          <a:lstStyle/>
          <a:p>
            <a:r>
              <a:rPr lang="en-US" sz="1600" b="1" dirty="0">
                <a:solidFill>
                  <a:schemeClr val="tx1">
                    <a:lumMod val="65000"/>
                    <a:lumOff val="35000"/>
                  </a:schemeClr>
                </a:solidFill>
              </a:rPr>
              <a:t>Descriptive Characteristics:</a:t>
            </a:r>
          </a:p>
        </p:txBody>
      </p:sp>
      <p:sp>
        <p:nvSpPr>
          <p:cNvPr id="7" name="TextBox 6">
            <a:extLst>
              <a:ext uri="{FF2B5EF4-FFF2-40B4-BE49-F238E27FC236}">
                <a16:creationId xmlns:a16="http://schemas.microsoft.com/office/drawing/2014/main" id="{87AB0BD4-8F8E-33E8-293A-22DF43E0AE4B}"/>
              </a:ext>
            </a:extLst>
          </p:cNvPr>
          <p:cNvSpPr txBox="1"/>
          <p:nvPr/>
        </p:nvSpPr>
        <p:spPr>
          <a:xfrm>
            <a:off x="543696" y="4812804"/>
            <a:ext cx="3173882" cy="1200329"/>
          </a:xfrm>
          <a:prstGeom prst="rect">
            <a:avLst/>
          </a:prstGeom>
          <a:noFill/>
        </p:spPr>
        <p:txBody>
          <a:bodyPr wrap="none" rtlCol="0">
            <a:spAutoFit/>
          </a:bodyPr>
          <a:lstStyle/>
          <a:p>
            <a:r>
              <a:rPr lang="en-US" sz="1600" b="1" dirty="0">
                <a:solidFill>
                  <a:schemeClr val="tx1">
                    <a:lumMod val="65000"/>
                    <a:lumOff val="35000"/>
                  </a:schemeClr>
                </a:solidFill>
              </a:rPr>
              <a:t>Analysis:</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There are a few outliers, people who had</a:t>
            </a:r>
          </a:p>
          <a:p>
            <a:r>
              <a:rPr lang="en-US" sz="1400" dirty="0">
                <a:solidFill>
                  <a:schemeClr val="tx1">
                    <a:lumMod val="65000"/>
                    <a:lumOff val="35000"/>
                  </a:schemeClr>
                </a:solidFill>
                <a:latin typeface="Calibri" panose="020F0502020204030204" pitchFamily="34" charset="0"/>
                <a:cs typeface="Calibri" panose="020F0502020204030204" pitchFamily="34" charset="0"/>
              </a:rPr>
              <a:t>more than 30 alcoholic beverages per</a:t>
            </a:r>
          </a:p>
          <a:p>
            <a:r>
              <a:rPr lang="en-US" sz="1400" dirty="0">
                <a:solidFill>
                  <a:schemeClr val="tx1">
                    <a:lumMod val="65000"/>
                    <a:lumOff val="35000"/>
                  </a:schemeClr>
                </a:solidFill>
                <a:latin typeface="Calibri" panose="020F0502020204030204" pitchFamily="34" charset="0"/>
                <a:cs typeface="Calibri" panose="020F0502020204030204" pitchFamily="34" charset="0"/>
              </a:rPr>
              <a:t>week. All these individuals died at a</a:t>
            </a:r>
          </a:p>
          <a:p>
            <a:r>
              <a:rPr lang="en-US" sz="1400" dirty="0">
                <a:solidFill>
                  <a:schemeClr val="tx1">
                    <a:lumMod val="65000"/>
                    <a:lumOff val="35000"/>
                  </a:schemeClr>
                </a:solidFill>
                <a:latin typeface="Calibri" panose="020F0502020204030204" pitchFamily="34" charset="0"/>
                <a:cs typeface="Calibri" panose="020F0502020204030204" pitchFamily="34" charset="0"/>
              </a:rPr>
              <a:t>young age.</a:t>
            </a:r>
          </a:p>
        </p:txBody>
      </p:sp>
      <p:graphicFrame>
        <p:nvGraphicFramePr>
          <p:cNvPr id="8" name="Table 7">
            <a:extLst>
              <a:ext uri="{FF2B5EF4-FFF2-40B4-BE49-F238E27FC236}">
                <a16:creationId xmlns:a16="http://schemas.microsoft.com/office/drawing/2014/main" id="{F7D75E72-98B5-DE7E-0B17-97DC59266544}"/>
              </a:ext>
            </a:extLst>
          </p:cNvPr>
          <p:cNvGraphicFramePr>
            <a:graphicFrameLocks noGrp="1"/>
          </p:cNvGraphicFramePr>
          <p:nvPr>
            <p:extLst>
              <p:ext uri="{D42A27DB-BD31-4B8C-83A1-F6EECF244321}">
                <p14:modId xmlns:p14="http://schemas.microsoft.com/office/powerpoint/2010/main" val="2082344542"/>
              </p:ext>
            </p:extLst>
          </p:nvPr>
        </p:nvGraphicFramePr>
        <p:xfrm>
          <a:off x="543696" y="3040246"/>
          <a:ext cx="3255306" cy="1594652"/>
        </p:xfrm>
        <a:graphic>
          <a:graphicData uri="http://schemas.openxmlformats.org/drawingml/2006/table">
            <a:tbl>
              <a:tblPr firstRow="1" bandRow="1">
                <a:noFill/>
                <a:tableStyleId>{2D5ABB26-0587-4C30-8999-92F81FD0307C}</a:tableStyleId>
              </a:tblPr>
              <a:tblGrid>
                <a:gridCol w="2026789">
                  <a:extLst>
                    <a:ext uri="{9D8B030D-6E8A-4147-A177-3AD203B41FA5}">
                      <a16:colId xmlns:a16="http://schemas.microsoft.com/office/drawing/2014/main" val="1845745399"/>
                    </a:ext>
                  </a:extLst>
                </a:gridCol>
                <a:gridCol w="1228517">
                  <a:extLst>
                    <a:ext uri="{9D8B030D-6E8A-4147-A177-3AD203B41FA5}">
                      <a16:colId xmlns:a16="http://schemas.microsoft.com/office/drawing/2014/main" val="2911684126"/>
                    </a:ext>
                  </a:extLst>
                </a:gridCol>
              </a:tblGrid>
              <a:tr h="214940">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Median: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9</a:t>
                      </a:r>
                    </a:p>
                  </a:txBody>
                  <a:tcPr>
                    <a:noFill/>
                  </a:tcPr>
                </a:tc>
                <a:extLst>
                  <a:ext uri="{0D108BD9-81ED-4DB2-BD59-A6C34878D82A}">
                    <a16:rowId xmlns:a16="http://schemas.microsoft.com/office/drawing/2014/main" val="3504164141"/>
                  </a:ext>
                </a:extLst>
              </a:tr>
              <a:tr h="255993">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9.98</a:t>
                      </a:r>
                    </a:p>
                  </a:txBody>
                  <a:tcPr>
                    <a:noFill/>
                  </a:tcPr>
                </a:tc>
                <a:extLst>
                  <a:ext uri="{0D108BD9-81ED-4DB2-BD59-A6C34878D82A}">
                    <a16:rowId xmlns:a16="http://schemas.microsoft.com/office/drawing/2014/main" val="3788616436"/>
                  </a:ext>
                </a:extLst>
              </a:tr>
              <a:tr h="309412">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Spread:</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30.87</a:t>
                      </a:r>
                    </a:p>
                  </a:txBody>
                  <a:tcPr>
                    <a:noFill/>
                  </a:tcPr>
                </a:tc>
                <a:extLst>
                  <a:ext uri="{0D108BD9-81ED-4DB2-BD59-A6C34878D82A}">
                    <a16:rowId xmlns:a16="http://schemas.microsoft.com/office/drawing/2014/main" val="357476479"/>
                  </a:ext>
                </a:extLst>
              </a:tr>
              <a:tr h="292231">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0.52</a:t>
                      </a:r>
                    </a:p>
                  </a:txBody>
                  <a:tcPr>
                    <a:noFill/>
                  </a:tcPr>
                </a:tc>
                <a:extLst>
                  <a:ext uri="{0D108BD9-81ED-4DB2-BD59-A6C34878D82A}">
                    <a16:rowId xmlns:a16="http://schemas.microsoft.com/office/drawing/2014/main" val="329670810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lumMod val="65000"/>
                              <a:lumOff val="35000"/>
                            </a:schemeClr>
                          </a:solidFill>
                          <a:latin typeface="Calibri" panose="020F0502020204030204" pitchFamily="34" charset="0"/>
                          <a:cs typeface="Calibri" panose="020F0502020204030204" pitchFamily="34" charset="0"/>
                        </a:rPr>
                        <a:t>Pearson’s 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0.53</a:t>
                      </a:r>
                    </a:p>
                  </a:txBody>
                  <a:tcPr>
                    <a:noFill/>
                  </a:tcPr>
                </a:tc>
                <a:extLst>
                  <a:ext uri="{0D108BD9-81ED-4DB2-BD59-A6C34878D82A}">
                    <a16:rowId xmlns:a16="http://schemas.microsoft.com/office/drawing/2014/main" val="680240679"/>
                  </a:ext>
                </a:extLst>
              </a:tr>
            </a:tbl>
          </a:graphicData>
        </a:graphic>
      </p:graphicFrame>
      <p:pic>
        <p:nvPicPr>
          <p:cNvPr id="5" name="Picture 4">
            <a:extLst>
              <a:ext uri="{FF2B5EF4-FFF2-40B4-BE49-F238E27FC236}">
                <a16:creationId xmlns:a16="http://schemas.microsoft.com/office/drawing/2014/main" id="{370206A5-1CBA-094C-B2C0-D1643F011D7A}"/>
              </a:ext>
            </a:extLst>
          </p:cNvPr>
          <p:cNvPicPr>
            <a:picLocks noChangeAspect="1"/>
          </p:cNvPicPr>
          <p:nvPr/>
        </p:nvPicPr>
        <p:blipFill>
          <a:blip r:embed="rId2"/>
          <a:stretch>
            <a:fillRect/>
          </a:stretch>
        </p:blipFill>
        <p:spPr>
          <a:xfrm>
            <a:off x="4028303" y="1380744"/>
            <a:ext cx="7772400" cy="5001767"/>
          </a:xfrm>
          <a:prstGeom prst="rect">
            <a:avLst/>
          </a:prstGeom>
        </p:spPr>
      </p:pic>
    </p:spTree>
    <p:extLst>
      <p:ext uri="{BB962C8B-B14F-4D97-AF65-F5344CB8AC3E}">
        <p14:creationId xmlns:p14="http://schemas.microsoft.com/office/powerpoint/2010/main" val="420667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9FAD69DF-8B66-1DD0-64CF-6D5BC54085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7565A3-05EC-F261-D086-69FCF7C59A90}"/>
              </a:ext>
            </a:extLst>
          </p:cNvPr>
          <p:cNvSpPr txBox="1"/>
          <p:nvPr/>
        </p:nvSpPr>
        <p:spPr>
          <a:xfrm>
            <a:off x="407773" y="160639"/>
            <a:ext cx="7462299" cy="769441"/>
          </a:xfrm>
          <a:prstGeom prst="rect">
            <a:avLst/>
          </a:prstGeom>
          <a:noFill/>
        </p:spPr>
        <p:txBody>
          <a:bodyPr wrap="none" rtlCol="0">
            <a:spAutoFit/>
          </a:bodyPr>
          <a:lstStyle/>
          <a:p>
            <a:r>
              <a:rPr lang="en-US" sz="4400" dirty="0">
                <a:solidFill>
                  <a:schemeClr val="tx1">
                    <a:lumMod val="65000"/>
                    <a:lumOff val="35000"/>
                  </a:schemeClr>
                </a:solidFill>
              </a:rPr>
              <a:t>Variable: Cholesterol Level</a:t>
            </a:r>
          </a:p>
        </p:txBody>
      </p:sp>
      <p:cxnSp>
        <p:nvCxnSpPr>
          <p:cNvPr id="4" name="Straight Connector 3">
            <a:extLst>
              <a:ext uri="{FF2B5EF4-FFF2-40B4-BE49-F238E27FC236}">
                <a16:creationId xmlns:a16="http://schemas.microsoft.com/office/drawing/2014/main" id="{5DA2A84E-5B72-ABDE-21BF-337575EF3164}"/>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6DEF47EB-BFB8-BFFC-EBA3-5842CB62B436}"/>
              </a:ext>
            </a:extLst>
          </p:cNvPr>
          <p:cNvSpPr txBox="1"/>
          <p:nvPr/>
        </p:nvSpPr>
        <p:spPr>
          <a:xfrm>
            <a:off x="543697" y="1383957"/>
            <a:ext cx="2922660" cy="769441"/>
          </a:xfrm>
          <a:prstGeom prst="rect">
            <a:avLst/>
          </a:prstGeom>
          <a:noFill/>
        </p:spPr>
        <p:txBody>
          <a:bodyPr wrap="none" rtlCol="0">
            <a:spAutoFit/>
          </a:bodyPr>
          <a:lstStyle/>
          <a:p>
            <a:r>
              <a:rPr lang="en-US" sz="1600" b="1" dirty="0">
                <a:solidFill>
                  <a:schemeClr val="tx1">
                    <a:lumMod val="65000"/>
                    <a:lumOff val="35000"/>
                  </a:schemeClr>
                </a:solidFill>
              </a:rPr>
              <a:t>Variable Meaning:</a:t>
            </a:r>
          </a:p>
          <a:p>
            <a:r>
              <a:rPr lang="en-US" sz="1400" dirty="0">
                <a:solidFill>
                  <a:schemeClr val="tx1">
                    <a:lumMod val="65000"/>
                    <a:lumOff val="35000"/>
                  </a:schemeClr>
                </a:solidFill>
                <a:latin typeface="Calibri" panose="020F0502020204030204" pitchFamily="34" charset="0"/>
                <a:cs typeface="Calibri" panose="020F0502020204030204" pitchFamily="34" charset="0"/>
              </a:rPr>
              <a:t>Level of cholesterol at the moment of</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 individual’s death.</a:t>
            </a:r>
          </a:p>
        </p:txBody>
      </p:sp>
      <p:sp>
        <p:nvSpPr>
          <p:cNvPr id="6" name="TextBox 5">
            <a:extLst>
              <a:ext uri="{FF2B5EF4-FFF2-40B4-BE49-F238E27FC236}">
                <a16:creationId xmlns:a16="http://schemas.microsoft.com/office/drawing/2014/main" id="{CB7A3367-DDD2-3AD7-875B-A86B7CA3471B}"/>
              </a:ext>
            </a:extLst>
          </p:cNvPr>
          <p:cNvSpPr txBox="1"/>
          <p:nvPr/>
        </p:nvSpPr>
        <p:spPr>
          <a:xfrm>
            <a:off x="543697" y="2644279"/>
            <a:ext cx="2888932" cy="338554"/>
          </a:xfrm>
          <a:prstGeom prst="rect">
            <a:avLst/>
          </a:prstGeom>
          <a:noFill/>
        </p:spPr>
        <p:txBody>
          <a:bodyPr wrap="none" rtlCol="0">
            <a:spAutoFit/>
          </a:bodyPr>
          <a:lstStyle/>
          <a:p>
            <a:r>
              <a:rPr lang="en-US" sz="1600" b="1" dirty="0">
                <a:solidFill>
                  <a:schemeClr val="tx1">
                    <a:lumMod val="65000"/>
                    <a:lumOff val="35000"/>
                  </a:schemeClr>
                </a:solidFill>
              </a:rPr>
              <a:t>Descriptive Characteristics:</a:t>
            </a:r>
          </a:p>
        </p:txBody>
      </p:sp>
      <p:sp>
        <p:nvSpPr>
          <p:cNvPr id="7" name="TextBox 6">
            <a:extLst>
              <a:ext uri="{FF2B5EF4-FFF2-40B4-BE49-F238E27FC236}">
                <a16:creationId xmlns:a16="http://schemas.microsoft.com/office/drawing/2014/main" id="{3DABB3DE-C2E3-657F-43DC-007E541F25FD}"/>
              </a:ext>
            </a:extLst>
          </p:cNvPr>
          <p:cNvSpPr txBox="1"/>
          <p:nvPr/>
        </p:nvSpPr>
        <p:spPr>
          <a:xfrm>
            <a:off x="543696" y="4812804"/>
            <a:ext cx="3556679" cy="1415772"/>
          </a:xfrm>
          <a:prstGeom prst="rect">
            <a:avLst/>
          </a:prstGeom>
          <a:noFill/>
        </p:spPr>
        <p:txBody>
          <a:bodyPr wrap="none" rtlCol="0">
            <a:spAutoFit/>
          </a:bodyPr>
          <a:lstStyle/>
          <a:p>
            <a:r>
              <a:rPr lang="en-US" sz="1600" b="1" dirty="0">
                <a:solidFill>
                  <a:schemeClr val="tx1">
                    <a:lumMod val="65000"/>
                    <a:lumOff val="35000"/>
                  </a:schemeClr>
                </a:solidFill>
              </a:rPr>
              <a:t>Analysis:</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There are three outliers; individuals with a</a:t>
            </a:r>
          </a:p>
          <a:p>
            <a:r>
              <a:rPr lang="en-US" sz="1400" dirty="0">
                <a:solidFill>
                  <a:schemeClr val="tx1">
                    <a:lumMod val="65000"/>
                    <a:lumOff val="35000"/>
                  </a:schemeClr>
                </a:solidFill>
                <a:latin typeface="Calibri" panose="020F0502020204030204" pitchFamily="34" charset="0"/>
                <a:cs typeface="Calibri" panose="020F0502020204030204" pitchFamily="34" charset="0"/>
              </a:rPr>
              <a:t>cholesterol level above 320. These individuals</a:t>
            </a:r>
          </a:p>
          <a:p>
            <a:r>
              <a:rPr lang="en-US" sz="1400" dirty="0">
                <a:solidFill>
                  <a:schemeClr val="tx1">
                    <a:lumMod val="65000"/>
                    <a:lumOff val="35000"/>
                  </a:schemeClr>
                </a:solidFill>
                <a:latin typeface="Calibri" panose="020F0502020204030204" pitchFamily="34" charset="0"/>
                <a:cs typeface="Calibri" panose="020F0502020204030204" pitchFamily="34" charset="0"/>
              </a:rPr>
              <a:t>had between 12 and 32 alcoholic beverages</a:t>
            </a:r>
          </a:p>
          <a:p>
            <a:r>
              <a:rPr lang="en-US" sz="1400" dirty="0">
                <a:solidFill>
                  <a:schemeClr val="tx1">
                    <a:lumMod val="65000"/>
                    <a:lumOff val="35000"/>
                  </a:schemeClr>
                </a:solidFill>
                <a:latin typeface="Calibri" panose="020F0502020204030204" pitchFamily="34" charset="0"/>
                <a:cs typeface="Calibri" panose="020F0502020204030204" pitchFamily="34" charset="0"/>
              </a:rPr>
              <a:t>per week, and they had between 25 and 38</a:t>
            </a:r>
          </a:p>
          <a:p>
            <a:r>
              <a:rPr lang="en-US" sz="1400" dirty="0">
                <a:solidFill>
                  <a:schemeClr val="tx1">
                    <a:lumMod val="65000"/>
                    <a:lumOff val="35000"/>
                  </a:schemeClr>
                </a:solidFill>
                <a:latin typeface="Calibri" panose="020F0502020204030204" pitchFamily="34" charset="0"/>
                <a:cs typeface="Calibri" panose="020F0502020204030204" pitchFamily="34" charset="0"/>
              </a:rPr>
              <a:t>years when they passed away.</a:t>
            </a:r>
          </a:p>
        </p:txBody>
      </p:sp>
      <p:graphicFrame>
        <p:nvGraphicFramePr>
          <p:cNvPr id="8" name="Table 7">
            <a:extLst>
              <a:ext uri="{FF2B5EF4-FFF2-40B4-BE49-F238E27FC236}">
                <a16:creationId xmlns:a16="http://schemas.microsoft.com/office/drawing/2014/main" id="{21EFB1CD-9F3B-1642-F11F-CF6EF5C43638}"/>
              </a:ext>
            </a:extLst>
          </p:cNvPr>
          <p:cNvGraphicFramePr>
            <a:graphicFrameLocks noGrp="1"/>
          </p:cNvGraphicFramePr>
          <p:nvPr>
            <p:extLst>
              <p:ext uri="{D42A27DB-BD31-4B8C-83A1-F6EECF244321}">
                <p14:modId xmlns:p14="http://schemas.microsoft.com/office/powerpoint/2010/main" val="3153326320"/>
              </p:ext>
            </p:extLst>
          </p:nvPr>
        </p:nvGraphicFramePr>
        <p:xfrm>
          <a:off x="543696" y="3040246"/>
          <a:ext cx="3255306" cy="1594652"/>
        </p:xfrm>
        <a:graphic>
          <a:graphicData uri="http://schemas.openxmlformats.org/drawingml/2006/table">
            <a:tbl>
              <a:tblPr firstRow="1" bandRow="1">
                <a:noFill/>
                <a:tableStyleId>{2D5ABB26-0587-4C30-8999-92F81FD0307C}</a:tableStyleId>
              </a:tblPr>
              <a:tblGrid>
                <a:gridCol w="2026789">
                  <a:extLst>
                    <a:ext uri="{9D8B030D-6E8A-4147-A177-3AD203B41FA5}">
                      <a16:colId xmlns:a16="http://schemas.microsoft.com/office/drawing/2014/main" val="1845745399"/>
                    </a:ext>
                  </a:extLst>
                </a:gridCol>
                <a:gridCol w="1228517">
                  <a:extLst>
                    <a:ext uri="{9D8B030D-6E8A-4147-A177-3AD203B41FA5}">
                      <a16:colId xmlns:a16="http://schemas.microsoft.com/office/drawing/2014/main" val="2911684126"/>
                    </a:ext>
                  </a:extLst>
                </a:gridCol>
              </a:tblGrid>
              <a:tr h="214940">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Median: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199</a:t>
                      </a:r>
                    </a:p>
                  </a:txBody>
                  <a:tcPr>
                    <a:noFill/>
                  </a:tcPr>
                </a:tc>
                <a:extLst>
                  <a:ext uri="{0D108BD9-81ED-4DB2-BD59-A6C34878D82A}">
                    <a16:rowId xmlns:a16="http://schemas.microsoft.com/office/drawing/2014/main" val="3504164141"/>
                  </a:ext>
                </a:extLst>
              </a:tr>
              <a:tr h="255993">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199.74</a:t>
                      </a:r>
                    </a:p>
                  </a:txBody>
                  <a:tcPr>
                    <a:noFill/>
                  </a:tcPr>
                </a:tc>
                <a:extLst>
                  <a:ext uri="{0D108BD9-81ED-4DB2-BD59-A6C34878D82A}">
                    <a16:rowId xmlns:a16="http://schemas.microsoft.com/office/drawing/2014/main" val="3788616436"/>
                  </a:ext>
                </a:extLst>
              </a:tr>
              <a:tr h="309412">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Spread:</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1269.60</a:t>
                      </a:r>
                    </a:p>
                  </a:txBody>
                  <a:tcPr>
                    <a:noFill/>
                  </a:tcPr>
                </a:tc>
                <a:extLst>
                  <a:ext uri="{0D108BD9-81ED-4DB2-BD59-A6C34878D82A}">
                    <a16:rowId xmlns:a16="http://schemas.microsoft.com/office/drawing/2014/main" val="357476479"/>
                  </a:ext>
                </a:extLst>
              </a:tr>
              <a:tr h="292231">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0.24</a:t>
                      </a:r>
                    </a:p>
                  </a:txBody>
                  <a:tcPr>
                    <a:noFill/>
                  </a:tcPr>
                </a:tc>
                <a:extLst>
                  <a:ext uri="{0D108BD9-81ED-4DB2-BD59-A6C34878D82A}">
                    <a16:rowId xmlns:a16="http://schemas.microsoft.com/office/drawing/2014/main" val="329670810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lumMod val="65000"/>
                              <a:lumOff val="35000"/>
                            </a:schemeClr>
                          </a:solidFill>
                          <a:latin typeface="Calibri" panose="020F0502020204030204" pitchFamily="34" charset="0"/>
                          <a:cs typeface="Calibri" panose="020F0502020204030204" pitchFamily="34" charset="0"/>
                        </a:rPr>
                        <a:t>Pearson’s 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0.06</a:t>
                      </a:r>
                    </a:p>
                  </a:txBody>
                  <a:tcPr>
                    <a:noFill/>
                  </a:tcPr>
                </a:tc>
                <a:extLst>
                  <a:ext uri="{0D108BD9-81ED-4DB2-BD59-A6C34878D82A}">
                    <a16:rowId xmlns:a16="http://schemas.microsoft.com/office/drawing/2014/main" val="680240679"/>
                  </a:ext>
                </a:extLst>
              </a:tr>
            </a:tbl>
          </a:graphicData>
        </a:graphic>
      </p:graphicFrame>
      <p:pic>
        <p:nvPicPr>
          <p:cNvPr id="9" name="Picture 8">
            <a:extLst>
              <a:ext uri="{FF2B5EF4-FFF2-40B4-BE49-F238E27FC236}">
                <a16:creationId xmlns:a16="http://schemas.microsoft.com/office/drawing/2014/main" id="{E2D42CF5-CA1B-2E92-8CBF-2AD5A56F40D2}"/>
              </a:ext>
            </a:extLst>
          </p:cNvPr>
          <p:cNvPicPr>
            <a:picLocks noChangeAspect="1"/>
          </p:cNvPicPr>
          <p:nvPr/>
        </p:nvPicPr>
        <p:blipFill>
          <a:blip r:embed="rId2"/>
          <a:stretch>
            <a:fillRect/>
          </a:stretch>
        </p:blipFill>
        <p:spPr>
          <a:xfrm>
            <a:off x="4032504" y="1380744"/>
            <a:ext cx="7772400" cy="5001767"/>
          </a:xfrm>
          <a:prstGeom prst="rect">
            <a:avLst/>
          </a:prstGeom>
        </p:spPr>
      </p:pic>
    </p:spTree>
    <p:extLst>
      <p:ext uri="{BB962C8B-B14F-4D97-AF65-F5344CB8AC3E}">
        <p14:creationId xmlns:p14="http://schemas.microsoft.com/office/powerpoint/2010/main" val="1459905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44B60FA5-AED1-267C-7C46-7F3C0B89747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23EBC7B-505B-7E26-C172-43197E7037EB}"/>
              </a:ext>
            </a:extLst>
          </p:cNvPr>
          <p:cNvSpPr txBox="1"/>
          <p:nvPr/>
        </p:nvSpPr>
        <p:spPr>
          <a:xfrm>
            <a:off x="407773" y="160639"/>
            <a:ext cx="4743606" cy="769441"/>
          </a:xfrm>
          <a:prstGeom prst="rect">
            <a:avLst/>
          </a:prstGeom>
          <a:noFill/>
        </p:spPr>
        <p:txBody>
          <a:bodyPr wrap="none" rtlCol="0">
            <a:spAutoFit/>
          </a:bodyPr>
          <a:lstStyle/>
          <a:p>
            <a:r>
              <a:rPr lang="en-US" sz="4400" dirty="0">
                <a:solidFill>
                  <a:schemeClr val="tx1">
                    <a:lumMod val="65000"/>
                    <a:lumOff val="35000"/>
                  </a:schemeClr>
                </a:solidFill>
              </a:rPr>
              <a:t>Variable: Weight</a:t>
            </a:r>
          </a:p>
        </p:txBody>
      </p:sp>
      <p:cxnSp>
        <p:nvCxnSpPr>
          <p:cNvPr id="4" name="Straight Connector 3">
            <a:extLst>
              <a:ext uri="{FF2B5EF4-FFF2-40B4-BE49-F238E27FC236}">
                <a16:creationId xmlns:a16="http://schemas.microsoft.com/office/drawing/2014/main" id="{2400BFDC-FDC9-0AAA-36BD-DB598467EF88}"/>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CEC49B0-A0EA-3D11-F934-BE9DC7674D09}"/>
              </a:ext>
            </a:extLst>
          </p:cNvPr>
          <p:cNvSpPr txBox="1"/>
          <p:nvPr/>
        </p:nvSpPr>
        <p:spPr>
          <a:xfrm>
            <a:off x="543697" y="1383957"/>
            <a:ext cx="2901372" cy="769441"/>
          </a:xfrm>
          <a:prstGeom prst="rect">
            <a:avLst/>
          </a:prstGeom>
          <a:noFill/>
        </p:spPr>
        <p:txBody>
          <a:bodyPr wrap="none" rtlCol="0">
            <a:spAutoFit/>
          </a:bodyPr>
          <a:lstStyle/>
          <a:p>
            <a:r>
              <a:rPr lang="en-US" sz="1600" b="1" dirty="0">
                <a:solidFill>
                  <a:schemeClr val="tx1">
                    <a:lumMod val="65000"/>
                    <a:lumOff val="35000"/>
                  </a:schemeClr>
                </a:solidFill>
              </a:rPr>
              <a:t>Variable Meaning:</a:t>
            </a:r>
          </a:p>
          <a:p>
            <a:r>
              <a:rPr lang="en-US" sz="1400" dirty="0">
                <a:solidFill>
                  <a:schemeClr val="tx1">
                    <a:lumMod val="65000"/>
                    <a:lumOff val="35000"/>
                  </a:schemeClr>
                </a:solidFill>
                <a:latin typeface="Calibri" panose="020F0502020204030204" pitchFamily="34" charset="0"/>
                <a:cs typeface="Calibri" panose="020F0502020204030204" pitchFamily="34" charset="0"/>
              </a:rPr>
              <a:t>Weight (in pounds) at the moment of</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 individual’s death.</a:t>
            </a:r>
          </a:p>
        </p:txBody>
      </p:sp>
      <p:sp>
        <p:nvSpPr>
          <p:cNvPr id="6" name="TextBox 5">
            <a:extLst>
              <a:ext uri="{FF2B5EF4-FFF2-40B4-BE49-F238E27FC236}">
                <a16:creationId xmlns:a16="http://schemas.microsoft.com/office/drawing/2014/main" id="{4CFC4821-741F-C4F2-E0D0-36DFD1CB9E1A}"/>
              </a:ext>
            </a:extLst>
          </p:cNvPr>
          <p:cNvSpPr txBox="1"/>
          <p:nvPr/>
        </p:nvSpPr>
        <p:spPr>
          <a:xfrm>
            <a:off x="543697" y="2644279"/>
            <a:ext cx="2888932" cy="338554"/>
          </a:xfrm>
          <a:prstGeom prst="rect">
            <a:avLst/>
          </a:prstGeom>
          <a:noFill/>
        </p:spPr>
        <p:txBody>
          <a:bodyPr wrap="none" rtlCol="0">
            <a:spAutoFit/>
          </a:bodyPr>
          <a:lstStyle/>
          <a:p>
            <a:r>
              <a:rPr lang="en-US" sz="1600" b="1" dirty="0">
                <a:solidFill>
                  <a:schemeClr val="tx1">
                    <a:lumMod val="65000"/>
                    <a:lumOff val="35000"/>
                  </a:schemeClr>
                </a:solidFill>
              </a:rPr>
              <a:t>Descriptive Characteristics:</a:t>
            </a:r>
          </a:p>
        </p:txBody>
      </p:sp>
      <p:sp>
        <p:nvSpPr>
          <p:cNvPr id="7" name="TextBox 6">
            <a:extLst>
              <a:ext uri="{FF2B5EF4-FFF2-40B4-BE49-F238E27FC236}">
                <a16:creationId xmlns:a16="http://schemas.microsoft.com/office/drawing/2014/main" id="{A4D76658-AD96-BCFB-309F-48930493FCCD}"/>
              </a:ext>
            </a:extLst>
          </p:cNvPr>
          <p:cNvSpPr txBox="1"/>
          <p:nvPr/>
        </p:nvSpPr>
        <p:spPr>
          <a:xfrm>
            <a:off x="543696" y="4812804"/>
            <a:ext cx="3541803" cy="1631216"/>
          </a:xfrm>
          <a:prstGeom prst="rect">
            <a:avLst/>
          </a:prstGeom>
          <a:noFill/>
        </p:spPr>
        <p:txBody>
          <a:bodyPr wrap="none" rtlCol="0">
            <a:spAutoFit/>
          </a:bodyPr>
          <a:lstStyle/>
          <a:p>
            <a:r>
              <a:rPr lang="en-US" sz="1600" b="1" dirty="0">
                <a:solidFill>
                  <a:schemeClr val="tx1">
                    <a:lumMod val="65000"/>
                    <a:lumOff val="35000"/>
                  </a:schemeClr>
                </a:solidFill>
              </a:rPr>
              <a:t>Analysis:</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There are three outliers. One individual with</a:t>
            </a:r>
          </a:p>
          <a:p>
            <a:r>
              <a:rPr lang="en-US" sz="1400" dirty="0">
                <a:solidFill>
                  <a:schemeClr val="tx1">
                    <a:lumMod val="65000"/>
                    <a:lumOff val="35000"/>
                  </a:schemeClr>
                </a:solidFill>
                <a:latin typeface="Calibri" panose="020F0502020204030204" pitchFamily="34" charset="0"/>
                <a:cs typeface="Calibri" panose="020F0502020204030204" pitchFamily="34" charset="0"/>
              </a:rPr>
              <a:t>a weight of 97 pounds, and in the other</a:t>
            </a:r>
          </a:p>
          <a:p>
            <a:r>
              <a:rPr lang="en-US" sz="1400" dirty="0">
                <a:solidFill>
                  <a:schemeClr val="tx1">
                    <a:lumMod val="65000"/>
                    <a:lumOff val="35000"/>
                  </a:schemeClr>
                </a:solidFill>
                <a:latin typeface="Calibri" panose="020F0502020204030204" pitchFamily="34" charset="0"/>
                <a:cs typeface="Calibri" panose="020F0502020204030204" pitchFamily="34" charset="0"/>
              </a:rPr>
              <a:t>extreme two individuals with more than 346</a:t>
            </a:r>
          </a:p>
          <a:p>
            <a:r>
              <a:rPr lang="en-US" sz="1400" dirty="0">
                <a:solidFill>
                  <a:schemeClr val="tx1">
                    <a:lumMod val="65000"/>
                    <a:lumOff val="35000"/>
                  </a:schemeClr>
                </a:solidFill>
                <a:latin typeface="Calibri" panose="020F0502020204030204" pitchFamily="34" charset="0"/>
                <a:cs typeface="Calibri" panose="020F0502020204030204" pitchFamily="34" charset="0"/>
              </a:rPr>
              <a:t>pounds. The person with 97 pounds was a</a:t>
            </a:r>
          </a:p>
          <a:p>
            <a:r>
              <a:rPr lang="en-US" sz="1400" dirty="0">
                <a:solidFill>
                  <a:schemeClr val="tx1">
                    <a:lumMod val="65000"/>
                    <a:lumOff val="35000"/>
                  </a:schemeClr>
                </a:solidFill>
                <a:latin typeface="Calibri" panose="020F0502020204030204" pitchFamily="34" charset="0"/>
                <a:cs typeface="Calibri" panose="020F0502020204030204" pitchFamily="34" charset="0"/>
              </a:rPr>
              <a:t>female who died at 88 years. This histogram is</a:t>
            </a:r>
          </a:p>
          <a:p>
            <a:r>
              <a:rPr lang="en-US" sz="1400" dirty="0">
                <a:solidFill>
                  <a:schemeClr val="tx1">
                    <a:lumMod val="65000"/>
                    <a:lumOff val="35000"/>
                  </a:schemeClr>
                </a:solidFill>
                <a:latin typeface="Calibri" panose="020F0502020204030204" pitchFamily="34" charset="0"/>
                <a:cs typeface="Calibri" panose="020F0502020204030204" pitchFamily="34" charset="0"/>
              </a:rPr>
              <a:t>very similar with the cholesterol one.</a:t>
            </a:r>
          </a:p>
        </p:txBody>
      </p:sp>
      <p:graphicFrame>
        <p:nvGraphicFramePr>
          <p:cNvPr id="8" name="Table 7">
            <a:extLst>
              <a:ext uri="{FF2B5EF4-FFF2-40B4-BE49-F238E27FC236}">
                <a16:creationId xmlns:a16="http://schemas.microsoft.com/office/drawing/2014/main" id="{BBABFFC3-6ADD-780F-0D7C-A33567497EDD}"/>
              </a:ext>
            </a:extLst>
          </p:cNvPr>
          <p:cNvGraphicFramePr>
            <a:graphicFrameLocks noGrp="1"/>
          </p:cNvGraphicFramePr>
          <p:nvPr>
            <p:extLst>
              <p:ext uri="{D42A27DB-BD31-4B8C-83A1-F6EECF244321}">
                <p14:modId xmlns:p14="http://schemas.microsoft.com/office/powerpoint/2010/main" val="4210241998"/>
              </p:ext>
            </p:extLst>
          </p:nvPr>
        </p:nvGraphicFramePr>
        <p:xfrm>
          <a:off x="543696" y="3040246"/>
          <a:ext cx="3255306" cy="1594652"/>
        </p:xfrm>
        <a:graphic>
          <a:graphicData uri="http://schemas.openxmlformats.org/drawingml/2006/table">
            <a:tbl>
              <a:tblPr firstRow="1" bandRow="1">
                <a:noFill/>
                <a:tableStyleId>{2D5ABB26-0587-4C30-8999-92F81FD0307C}</a:tableStyleId>
              </a:tblPr>
              <a:tblGrid>
                <a:gridCol w="2026789">
                  <a:extLst>
                    <a:ext uri="{9D8B030D-6E8A-4147-A177-3AD203B41FA5}">
                      <a16:colId xmlns:a16="http://schemas.microsoft.com/office/drawing/2014/main" val="1845745399"/>
                    </a:ext>
                  </a:extLst>
                </a:gridCol>
                <a:gridCol w="1228517">
                  <a:extLst>
                    <a:ext uri="{9D8B030D-6E8A-4147-A177-3AD203B41FA5}">
                      <a16:colId xmlns:a16="http://schemas.microsoft.com/office/drawing/2014/main" val="2911684126"/>
                    </a:ext>
                  </a:extLst>
                </a:gridCol>
              </a:tblGrid>
              <a:tr h="214940">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Median: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214</a:t>
                      </a:r>
                    </a:p>
                  </a:txBody>
                  <a:tcPr>
                    <a:noFill/>
                  </a:tcPr>
                </a:tc>
                <a:extLst>
                  <a:ext uri="{0D108BD9-81ED-4DB2-BD59-A6C34878D82A}">
                    <a16:rowId xmlns:a16="http://schemas.microsoft.com/office/drawing/2014/main" val="3504164141"/>
                  </a:ext>
                </a:extLst>
              </a:tr>
              <a:tr h="255993">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214.73</a:t>
                      </a:r>
                    </a:p>
                  </a:txBody>
                  <a:tcPr>
                    <a:noFill/>
                  </a:tcPr>
                </a:tc>
                <a:extLst>
                  <a:ext uri="{0D108BD9-81ED-4DB2-BD59-A6C34878D82A}">
                    <a16:rowId xmlns:a16="http://schemas.microsoft.com/office/drawing/2014/main" val="3788616436"/>
                  </a:ext>
                </a:extLst>
              </a:tr>
              <a:tr h="309412">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Spread:</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1269.01</a:t>
                      </a:r>
                    </a:p>
                  </a:txBody>
                  <a:tcPr>
                    <a:noFill/>
                  </a:tcPr>
                </a:tc>
                <a:extLst>
                  <a:ext uri="{0D108BD9-81ED-4DB2-BD59-A6C34878D82A}">
                    <a16:rowId xmlns:a16="http://schemas.microsoft.com/office/drawing/2014/main" val="357476479"/>
                  </a:ext>
                </a:extLst>
              </a:tr>
              <a:tr h="292231">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0.24</a:t>
                      </a:r>
                    </a:p>
                  </a:txBody>
                  <a:tcPr>
                    <a:noFill/>
                  </a:tcPr>
                </a:tc>
                <a:extLst>
                  <a:ext uri="{0D108BD9-81ED-4DB2-BD59-A6C34878D82A}">
                    <a16:rowId xmlns:a16="http://schemas.microsoft.com/office/drawing/2014/main" val="329670810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lumMod val="65000"/>
                              <a:lumOff val="35000"/>
                            </a:schemeClr>
                          </a:solidFill>
                          <a:latin typeface="Calibri" panose="020F0502020204030204" pitchFamily="34" charset="0"/>
                          <a:cs typeface="Calibri" panose="020F0502020204030204" pitchFamily="34" charset="0"/>
                        </a:rPr>
                        <a:t>Pearson’s 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0.06</a:t>
                      </a:r>
                    </a:p>
                  </a:txBody>
                  <a:tcPr>
                    <a:noFill/>
                  </a:tcPr>
                </a:tc>
                <a:extLst>
                  <a:ext uri="{0D108BD9-81ED-4DB2-BD59-A6C34878D82A}">
                    <a16:rowId xmlns:a16="http://schemas.microsoft.com/office/drawing/2014/main" val="680240679"/>
                  </a:ext>
                </a:extLst>
              </a:tr>
            </a:tbl>
          </a:graphicData>
        </a:graphic>
      </p:graphicFrame>
      <p:pic>
        <p:nvPicPr>
          <p:cNvPr id="5" name="Picture 4">
            <a:extLst>
              <a:ext uri="{FF2B5EF4-FFF2-40B4-BE49-F238E27FC236}">
                <a16:creationId xmlns:a16="http://schemas.microsoft.com/office/drawing/2014/main" id="{097BAD19-A84A-A013-B281-3DB529FB79A4}"/>
              </a:ext>
            </a:extLst>
          </p:cNvPr>
          <p:cNvPicPr>
            <a:picLocks noChangeAspect="1"/>
          </p:cNvPicPr>
          <p:nvPr/>
        </p:nvPicPr>
        <p:blipFill>
          <a:blip r:embed="rId2"/>
          <a:stretch>
            <a:fillRect/>
          </a:stretch>
        </p:blipFill>
        <p:spPr>
          <a:xfrm>
            <a:off x="4032504" y="1380744"/>
            <a:ext cx="7772400" cy="5001767"/>
          </a:xfrm>
          <a:prstGeom prst="rect">
            <a:avLst/>
          </a:prstGeom>
        </p:spPr>
      </p:pic>
    </p:spTree>
    <p:extLst>
      <p:ext uri="{BB962C8B-B14F-4D97-AF65-F5344CB8AC3E}">
        <p14:creationId xmlns:p14="http://schemas.microsoft.com/office/powerpoint/2010/main" val="457084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798BE59D-8D9F-21D4-FB95-23E623558C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964F90-B33F-91B1-3876-1194B5040109}"/>
              </a:ext>
            </a:extLst>
          </p:cNvPr>
          <p:cNvSpPr txBox="1"/>
          <p:nvPr/>
        </p:nvSpPr>
        <p:spPr>
          <a:xfrm>
            <a:off x="407773" y="160639"/>
            <a:ext cx="5957080" cy="769441"/>
          </a:xfrm>
          <a:prstGeom prst="rect">
            <a:avLst/>
          </a:prstGeom>
          <a:noFill/>
        </p:spPr>
        <p:txBody>
          <a:bodyPr wrap="none" rtlCol="0">
            <a:spAutoFit/>
          </a:bodyPr>
          <a:lstStyle/>
          <a:p>
            <a:r>
              <a:rPr lang="en-US" sz="4400" dirty="0">
                <a:solidFill>
                  <a:schemeClr val="tx1">
                    <a:lumMod val="65000"/>
                    <a:lumOff val="35000"/>
                  </a:schemeClr>
                </a:solidFill>
              </a:rPr>
              <a:t>Variable: Medication</a:t>
            </a:r>
          </a:p>
        </p:txBody>
      </p:sp>
      <p:cxnSp>
        <p:nvCxnSpPr>
          <p:cNvPr id="4" name="Straight Connector 3">
            <a:extLst>
              <a:ext uri="{FF2B5EF4-FFF2-40B4-BE49-F238E27FC236}">
                <a16:creationId xmlns:a16="http://schemas.microsoft.com/office/drawing/2014/main" id="{1E9C29AF-5177-F387-B415-9C3D98CF5B8E}"/>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46BC4794-4351-828A-ACEB-957C67F44090}"/>
              </a:ext>
            </a:extLst>
          </p:cNvPr>
          <p:cNvSpPr txBox="1"/>
          <p:nvPr/>
        </p:nvSpPr>
        <p:spPr>
          <a:xfrm>
            <a:off x="543697" y="1383957"/>
            <a:ext cx="2861104" cy="769441"/>
          </a:xfrm>
          <a:prstGeom prst="rect">
            <a:avLst/>
          </a:prstGeom>
          <a:noFill/>
        </p:spPr>
        <p:txBody>
          <a:bodyPr wrap="none" rtlCol="0">
            <a:spAutoFit/>
          </a:bodyPr>
          <a:lstStyle/>
          <a:p>
            <a:r>
              <a:rPr lang="en-US" sz="1600" b="1" dirty="0">
                <a:solidFill>
                  <a:schemeClr val="tx1">
                    <a:lumMod val="65000"/>
                    <a:lumOff val="35000"/>
                  </a:schemeClr>
                </a:solidFill>
              </a:rPr>
              <a:t>Variable Meaning:</a:t>
            </a:r>
          </a:p>
          <a:p>
            <a:r>
              <a:rPr lang="en-US" sz="1400" dirty="0">
                <a:solidFill>
                  <a:schemeClr val="tx1">
                    <a:lumMod val="65000"/>
                    <a:lumOff val="35000"/>
                  </a:schemeClr>
                </a:solidFill>
                <a:latin typeface="Calibri" panose="020F0502020204030204" pitchFamily="34" charset="0"/>
                <a:cs typeface="Calibri" panose="020F0502020204030204" pitchFamily="34" charset="0"/>
              </a:rPr>
              <a:t>Number of different medications the</a:t>
            </a:r>
          </a:p>
          <a:p>
            <a:r>
              <a:rPr lang="en-US" sz="1400" dirty="0">
                <a:solidFill>
                  <a:schemeClr val="tx1">
                    <a:lumMod val="65000"/>
                    <a:lumOff val="35000"/>
                  </a:schemeClr>
                </a:solidFill>
                <a:latin typeface="Calibri" panose="020F0502020204030204" pitchFamily="34" charset="0"/>
                <a:cs typeface="Calibri" panose="020F0502020204030204" pitchFamily="34" charset="0"/>
              </a:rPr>
              <a:t>individuals were taking.</a:t>
            </a:r>
          </a:p>
        </p:txBody>
      </p:sp>
      <p:sp>
        <p:nvSpPr>
          <p:cNvPr id="6" name="TextBox 5">
            <a:extLst>
              <a:ext uri="{FF2B5EF4-FFF2-40B4-BE49-F238E27FC236}">
                <a16:creationId xmlns:a16="http://schemas.microsoft.com/office/drawing/2014/main" id="{C0972777-3D97-40C3-0EAE-31B9878BCD58}"/>
              </a:ext>
            </a:extLst>
          </p:cNvPr>
          <p:cNvSpPr txBox="1"/>
          <p:nvPr/>
        </p:nvSpPr>
        <p:spPr>
          <a:xfrm>
            <a:off x="543697" y="2644279"/>
            <a:ext cx="2888932" cy="338554"/>
          </a:xfrm>
          <a:prstGeom prst="rect">
            <a:avLst/>
          </a:prstGeom>
          <a:noFill/>
        </p:spPr>
        <p:txBody>
          <a:bodyPr wrap="none" rtlCol="0">
            <a:spAutoFit/>
          </a:bodyPr>
          <a:lstStyle/>
          <a:p>
            <a:r>
              <a:rPr lang="en-US" sz="1600" b="1" dirty="0">
                <a:solidFill>
                  <a:schemeClr val="tx1">
                    <a:lumMod val="65000"/>
                    <a:lumOff val="35000"/>
                  </a:schemeClr>
                </a:solidFill>
              </a:rPr>
              <a:t>Descriptive Characteristics:</a:t>
            </a:r>
          </a:p>
        </p:txBody>
      </p:sp>
      <p:sp>
        <p:nvSpPr>
          <p:cNvPr id="7" name="TextBox 6">
            <a:extLst>
              <a:ext uri="{FF2B5EF4-FFF2-40B4-BE49-F238E27FC236}">
                <a16:creationId xmlns:a16="http://schemas.microsoft.com/office/drawing/2014/main" id="{37FC4475-B2DC-DD1B-E474-F1D69A72DED7}"/>
              </a:ext>
            </a:extLst>
          </p:cNvPr>
          <p:cNvSpPr txBox="1"/>
          <p:nvPr/>
        </p:nvSpPr>
        <p:spPr>
          <a:xfrm>
            <a:off x="543696" y="4812804"/>
            <a:ext cx="3540777" cy="1415772"/>
          </a:xfrm>
          <a:prstGeom prst="rect">
            <a:avLst/>
          </a:prstGeom>
          <a:noFill/>
        </p:spPr>
        <p:txBody>
          <a:bodyPr wrap="none" rtlCol="0">
            <a:spAutoFit/>
          </a:bodyPr>
          <a:lstStyle/>
          <a:p>
            <a:r>
              <a:rPr lang="en-US" sz="1600" b="1" dirty="0">
                <a:solidFill>
                  <a:schemeClr val="tx1">
                    <a:lumMod val="65000"/>
                    <a:lumOff val="35000"/>
                  </a:schemeClr>
                </a:solidFill>
              </a:rPr>
              <a:t>Analysis:</a:t>
            </a:r>
          </a:p>
          <a:p>
            <a:r>
              <a:rPr lang="en-US" sz="1400" dirty="0">
                <a:solidFill>
                  <a:schemeClr val="tx1">
                    <a:lumMod val="65000"/>
                    <a:lumOff val="35000"/>
                  </a:schemeClr>
                </a:solidFill>
                <a:latin typeface="Calibri" panose="020F0502020204030204" pitchFamily="34" charset="0"/>
                <a:cs typeface="Calibri" panose="020F0502020204030204" pitchFamily="34" charset="0"/>
              </a:rPr>
              <a:t>For this data, individuals taking more than</a:t>
            </a:r>
          </a:p>
          <a:p>
            <a:r>
              <a:rPr lang="en-US" sz="1400" dirty="0">
                <a:solidFill>
                  <a:schemeClr val="tx1">
                    <a:lumMod val="65000"/>
                    <a:lumOff val="35000"/>
                  </a:schemeClr>
                </a:solidFill>
                <a:latin typeface="Calibri" panose="020F0502020204030204" pitchFamily="34" charset="0"/>
                <a:cs typeface="Calibri" panose="020F0502020204030204" pitchFamily="34" charset="0"/>
              </a:rPr>
              <a:t>30 medications could be considered outliers. </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 most extreme case is somebody taking 53</a:t>
            </a:r>
          </a:p>
          <a:p>
            <a:r>
              <a:rPr lang="en-US" sz="1400" dirty="0">
                <a:solidFill>
                  <a:schemeClr val="tx1">
                    <a:lumMod val="65000"/>
                    <a:lumOff val="35000"/>
                  </a:schemeClr>
                </a:solidFill>
                <a:latin typeface="Calibri" panose="020F0502020204030204" pitchFamily="34" charset="0"/>
                <a:cs typeface="Calibri" panose="020F0502020204030204" pitchFamily="34" charset="0"/>
              </a:rPr>
              <a:t>medications. It is surprising the number of</a:t>
            </a:r>
          </a:p>
          <a:p>
            <a:r>
              <a:rPr lang="en-US" sz="1400" dirty="0">
                <a:solidFill>
                  <a:schemeClr val="tx1">
                    <a:lumMod val="65000"/>
                    <a:lumOff val="35000"/>
                  </a:schemeClr>
                </a:solidFill>
                <a:latin typeface="Calibri" panose="020F0502020204030204" pitchFamily="34" charset="0"/>
                <a:cs typeface="Calibri" panose="020F0502020204030204" pitchFamily="34" charset="0"/>
              </a:rPr>
              <a:t>people not taking any medication at all.</a:t>
            </a:r>
          </a:p>
        </p:txBody>
      </p:sp>
      <p:graphicFrame>
        <p:nvGraphicFramePr>
          <p:cNvPr id="8" name="Table 7">
            <a:extLst>
              <a:ext uri="{FF2B5EF4-FFF2-40B4-BE49-F238E27FC236}">
                <a16:creationId xmlns:a16="http://schemas.microsoft.com/office/drawing/2014/main" id="{49ED16A7-FED4-F0CB-27F4-ADD06FFD55DA}"/>
              </a:ext>
            </a:extLst>
          </p:cNvPr>
          <p:cNvGraphicFramePr>
            <a:graphicFrameLocks noGrp="1"/>
          </p:cNvGraphicFramePr>
          <p:nvPr>
            <p:extLst>
              <p:ext uri="{D42A27DB-BD31-4B8C-83A1-F6EECF244321}">
                <p14:modId xmlns:p14="http://schemas.microsoft.com/office/powerpoint/2010/main" val="2251388862"/>
              </p:ext>
            </p:extLst>
          </p:nvPr>
        </p:nvGraphicFramePr>
        <p:xfrm>
          <a:off x="543696" y="3040246"/>
          <a:ext cx="3255306" cy="1594652"/>
        </p:xfrm>
        <a:graphic>
          <a:graphicData uri="http://schemas.openxmlformats.org/drawingml/2006/table">
            <a:tbl>
              <a:tblPr firstRow="1" bandRow="1">
                <a:noFill/>
                <a:tableStyleId>{2D5ABB26-0587-4C30-8999-92F81FD0307C}</a:tableStyleId>
              </a:tblPr>
              <a:tblGrid>
                <a:gridCol w="2026789">
                  <a:extLst>
                    <a:ext uri="{9D8B030D-6E8A-4147-A177-3AD203B41FA5}">
                      <a16:colId xmlns:a16="http://schemas.microsoft.com/office/drawing/2014/main" val="1845745399"/>
                    </a:ext>
                  </a:extLst>
                </a:gridCol>
                <a:gridCol w="1228517">
                  <a:extLst>
                    <a:ext uri="{9D8B030D-6E8A-4147-A177-3AD203B41FA5}">
                      <a16:colId xmlns:a16="http://schemas.microsoft.com/office/drawing/2014/main" val="2911684126"/>
                    </a:ext>
                  </a:extLst>
                </a:gridCol>
              </a:tblGrid>
              <a:tr h="214940">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Median: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3</a:t>
                      </a:r>
                    </a:p>
                  </a:txBody>
                  <a:tcPr>
                    <a:noFill/>
                  </a:tcPr>
                </a:tc>
                <a:extLst>
                  <a:ext uri="{0D108BD9-81ED-4DB2-BD59-A6C34878D82A}">
                    <a16:rowId xmlns:a16="http://schemas.microsoft.com/office/drawing/2014/main" val="3504164141"/>
                  </a:ext>
                </a:extLst>
              </a:tr>
              <a:tr h="255993">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Mean: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4.59</a:t>
                      </a:r>
                    </a:p>
                  </a:txBody>
                  <a:tcPr>
                    <a:noFill/>
                  </a:tcPr>
                </a:tc>
                <a:extLst>
                  <a:ext uri="{0D108BD9-81ED-4DB2-BD59-A6C34878D82A}">
                    <a16:rowId xmlns:a16="http://schemas.microsoft.com/office/drawing/2014/main" val="3788616436"/>
                  </a:ext>
                </a:extLst>
              </a:tr>
              <a:tr h="309412">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Spread:</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30.38</a:t>
                      </a:r>
                    </a:p>
                  </a:txBody>
                  <a:tcPr>
                    <a:noFill/>
                  </a:tcPr>
                </a:tc>
                <a:extLst>
                  <a:ext uri="{0D108BD9-81ED-4DB2-BD59-A6C34878D82A}">
                    <a16:rowId xmlns:a16="http://schemas.microsoft.com/office/drawing/2014/main" val="357476479"/>
                  </a:ext>
                </a:extLst>
              </a:tr>
              <a:tr h="292231">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1.73</a:t>
                      </a:r>
                    </a:p>
                  </a:txBody>
                  <a:tcPr>
                    <a:noFill/>
                  </a:tcPr>
                </a:tc>
                <a:extLst>
                  <a:ext uri="{0D108BD9-81ED-4DB2-BD59-A6C34878D82A}">
                    <a16:rowId xmlns:a16="http://schemas.microsoft.com/office/drawing/2014/main" val="3296708101"/>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dirty="0">
                          <a:solidFill>
                            <a:schemeClr val="tx1">
                              <a:lumMod val="65000"/>
                              <a:lumOff val="35000"/>
                            </a:schemeClr>
                          </a:solidFill>
                          <a:latin typeface="Calibri" panose="020F0502020204030204" pitchFamily="34" charset="0"/>
                          <a:cs typeface="Calibri" panose="020F0502020204030204" pitchFamily="34" charset="0"/>
                        </a:rPr>
                        <a:t>Pearson’s Skewness:</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0.87</a:t>
                      </a:r>
                    </a:p>
                  </a:txBody>
                  <a:tcPr>
                    <a:noFill/>
                  </a:tcPr>
                </a:tc>
                <a:extLst>
                  <a:ext uri="{0D108BD9-81ED-4DB2-BD59-A6C34878D82A}">
                    <a16:rowId xmlns:a16="http://schemas.microsoft.com/office/drawing/2014/main" val="680240679"/>
                  </a:ext>
                </a:extLst>
              </a:tr>
            </a:tbl>
          </a:graphicData>
        </a:graphic>
      </p:graphicFrame>
      <p:pic>
        <p:nvPicPr>
          <p:cNvPr id="9" name="Picture 8">
            <a:extLst>
              <a:ext uri="{FF2B5EF4-FFF2-40B4-BE49-F238E27FC236}">
                <a16:creationId xmlns:a16="http://schemas.microsoft.com/office/drawing/2014/main" id="{B41789B9-876D-B1EA-CB6C-57612BC44269}"/>
              </a:ext>
            </a:extLst>
          </p:cNvPr>
          <p:cNvPicPr>
            <a:picLocks noChangeAspect="1"/>
          </p:cNvPicPr>
          <p:nvPr/>
        </p:nvPicPr>
        <p:blipFill>
          <a:blip r:embed="rId2"/>
          <a:stretch>
            <a:fillRect/>
          </a:stretch>
        </p:blipFill>
        <p:spPr>
          <a:xfrm>
            <a:off x="4032504" y="1380744"/>
            <a:ext cx="7772400" cy="4949362"/>
          </a:xfrm>
          <a:prstGeom prst="rect">
            <a:avLst/>
          </a:prstGeom>
        </p:spPr>
      </p:pic>
    </p:spTree>
    <p:extLst>
      <p:ext uri="{BB962C8B-B14F-4D97-AF65-F5344CB8AC3E}">
        <p14:creationId xmlns:p14="http://schemas.microsoft.com/office/powerpoint/2010/main" val="2958170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AC5708BE-9BA2-1B89-F617-455722DF8E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4943849-5E14-D2E8-1695-76F38646AA23}"/>
              </a:ext>
            </a:extLst>
          </p:cNvPr>
          <p:cNvSpPr txBox="1"/>
          <p:nvPr/>
        </p:nvSpPr>
        <p:spPr>
          <a:xfrm>
            <a:off x="407773" y="160639"/>
            <a:ext cx="8735084" cy="769441"/>
          </a:xfrm>
          <a:prstGeom prst="rect">
            <a:avLst/>
          </a:prstGeom>
          <a:noFill/>
        </p:spPr>
        <p:txBody>
          <a:bodyPr wrap="none" rtlCol="0">
            <a:spAutoFit/>
          </a:bodyPr>
          <a:lstStyle/>
          <a:p>
            <a:r>
              <a:rPr lang="en-US" sz="4400" dirty="0">
                <a:solidFill>
                  <a:schemeClr val="tx1">
                    <a:lumMod val="65000"/>
                    <a:lumOff val="35000"/>
                  </a:schemeClr>
                </a:solidFill>
              </a:rPr>
              <a:t>Probability Mass Function (PMF)</a:t>
            </a:r>
          </a:p>
        </p:txBody>
      </p:sp>
      <p:cxnSp>
        <p:nvCxnSpPr>
          <p:cNvPr id="4" name="Straight Connector 3">
            <a:extLst>
              <a:ext uri="{FF2B5EF4-FFF2-40B4-BE49-F238E27FC236}">
                <a16:creationId xmlns:a16="http://schemas.microsoft.com/office/drawing/2014/main" id="{9DDB6E45-D0F8-C4B1-D12F-18BAA6A2E32C}"/>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2F17929-526A-9B31-D595-ADEB723345C1}"/>
              </a:ext>
            </a:extLst>
          </p:cNvPr>
          <p:cNvPicPr>
            <a:picLocks noChangeAspect="1"/>
          </p:cNvPicPr>
          <p:nvPr/>
        </p:nvPicPr>
        <p:blipFill>
          <a:blip r:embed="rId2"/>
          <a:stretch>
            <a:fillRect/>
          </a:stretch>
        </p:blipFill>
        <p:spPr>
          <a:xfrm>
            <a:off x="2442735" y="2632075"/>
            <a:ext cx="7306530" cy="3756024"/>
          </a:xfrm>
          <a:prstGeom prst="rect">
            <a:avLst/>
          </a:prstGeom>
        </p:spPr>
      </p:pic>
      <p:sp>
        <p:nvSpPr>
          <p:cNvPr id="3" name="TextBox 2">
            <a:extLst>
              <a:ext uri="{FF2B5EF4-FFF2-40B4-BE49-F238E27FC236}">
                <a16:creationId xmlns:a16="http://schemas.microsoft.com/office/drawing/2014/main" id="{DDD8A623-2BE1-351E-C4E7-C98377FF4B2C}"/>
              </a:ext>
            </a:extLst>
          </p:cNvPr>
          <p:cNvSpPr txBox="1"/>
          <p:nvPr/>
        </p:nvSpPr>
        <p:spPr>
          <a:xfrm>
            <a:off x="407773" y="1345704"/>
            <a:ext cx="11469230" cy="984885"/>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The PMF plot represents the age probability of both male and female smokers. It shows that for individuals under 40 years old, there is a greater possibility</a:t>
            </a:r>
          </a:p>
          <a:p>
            <a:r>
              <a:rPr lang="en-US" sz="1400" dirty="0">
                <a:solidFill>
                  <a:schemeClr val="tx1">
                    <a:lumMod val="65000"/>
                    <a:lumOff val="35000"/>
                  </a:schemeClr>
                </a:solidFill>
                <a:latin typeface="Calibri" panose="020F0502020204030204" pitchFamily="34" charset="0"/>
                <a:cs typeface="Calibri" panose="020F0502020204030204" pitchFamily="34" charset="0"/>
              </a:rPr>
              <a:t>for them to be males. Around 60 years old,  both genders have a similar probability. Any smoker over the age of 100 is more likely to be a female.</a:t>
            </a:r>
          </a:p>
        </p:txBody>
      </p:sp>
    </p:spTree>
    <p:extLst>
      <p:ext uri="{BB962C8B-B14F-4D97-AF65-F5344CB8AC3E}">
        <p14:creationId xmlns:p14="http://schemas.microsoft.com/office/powerpoint/2010/main" val="337581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2CD3C1FA-64F3-EB7D-825C-DD91DAEAEF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B36948-A2CE-3877-0F75-99B98C1B709F}"/>
              </a:ext>
            </a:extLst>
          </p:cNvPr>
          <p:cNvSpPr txBox="1"/>
          <p:nvPr/>
        </p:nvSpPr>
        <p:spPr>
          <a:xfrm>
            <a:off x="407773" y="160639"/>
            <a:ext cx="10685939" cy="769441"/>
          </a:xfrm>
          <a:prstGeom prst="rect">
            <a:avLst/>
          </a:prstGeom>
          <a:noFill/>
        </p:spPr>
        <p:txBody>
          <a:bodyPr wrap="none" rtlCol="0">
            <a:spAutoFit/>
          </a:bodyPr>
          <a:lstStyle/>
          <a:p>
            <a:r>
              <a:rPr lang="en-US" sz="4400" dirty="0">
                <a:solidFill>
                  <a:schemeClr val="tx1">
                    <a:lumMod val="65000"/>
                    <a:lumOff val="35000"/>
                  </a:schemeClr>
                </a:solidFill>
              </a:rPr>
              <a:t>Cumulative Distribution Function (CDF)</a:t>
            </a:r>
          </a:p>
        </p:txBody>
      </p:sp>
      <p:cxnSp>
        <p:nvCxnSpPr>
          <p:cNvPr id="4" name="Straight Connector 3">
            <a:extLst>
              <a:ext uri="{FF2B5EF4-FFF2-40B4-BE49-F238E27FC236}">
                <a16:creationId xmlns:a16="http://schemas.microsoft.com/office/drawing/2014/main" id="{1D94F07E-8C3F-DBAC-392A-B49BE1D917C1}"/>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27EE64AB-1E78-4A29-E934-798056D36F53}"/>
              </a:ext>
            </a:extLst>
          </p:cNvPr>
          <p:cNvPicPr>
            <a:picLocks noChangeAspect="1"/>
          </p:cNvPicPr>
          <p:nvPr/>
        </p:nvPicPr>
        <p:blipFill>
          <a:blip r:embed="rId2"/>
          <a:stretch>
            <a:fillRect/>
          </a:stretch>
        </p:blipFill>
        <p:spPr>
          <a:xfrm>
            <a:off x="6400028" y="1717592"/>
            <a:ext cx="5400675" cy="4114800"/>
          </a:xfrm>
          <a:prstGeom prst="rect">
            <a:avLst/>
          </a:prstGeom>
        </p:spPr>
      </p:pic>
      <p:sp>
        <p:nvSpPr>
          <p:cNvPr id="3" name="TextBox 2">
            <a:extLst>
              <a:ext uri="{FF2B5EF4-FFF2-40B4-BE49-F238E27FC236}">
                <a16:creationId xmlns:a16="http://schemas.microsoft.com/office/drawing/2014/main" id="{438ADBA6-6681-8DD1-97B4-8139335EC050}"/>
              </a:ext>
            </a:extLst>
          </p:cNvPr>
          <p:cNvSpPr txBox="1"/>
          <p:nvPr/>
        </p:nvSpPr>
        <p:spPr>
          <a:xfrm>
            <a:off x="407773" y="1345704"/>
            <a:ext cx="5948167" cy="1846659"/>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This CDF plot represents the probability of the number of alcoholic drinks</a:t>
            </a:r>
          </a:p>
          <a:p>
            <a:r>
              <a:rPr lang="en-US" sz="1400" dirty="0">
                <a:solidFill>
                  <a:schemeClr val="tx1">
                    <a:lumMod val="65000"/>
                    <a:lumOff val="35000"/>
                  </a:schemeClr>
                </a:solidFill>
                <a:latin typeface="Calibri" panose="020F0502020204030204" pitchFamily="34" charset="0"/>
                <a:cs typeface="Calibri" panose="020F0502020204030204" pitchFamily="34" charset="0"/>
              </a:rPr>
              <a:t>a smoker had a week. The median is around 10 drinks. There is really no </a:t>
            </a:r>
          </a:p>
          <a:p>
            <a:r>
              <a:rPr lang="en-US" sz="1400" dirty="0">
                <a:solidFill>
                  <a:schemeClr val="tx1">
                    <a:lumMod val="65000"/>
                    <a:lumOff val="35000"/>
                  </a:schemeClr>
                </a:solidFill>
                <a:latin typeface="Calibri" panose="020F0502020204030204" pitchFamily="34" charset="0"/>
                <a:cs typeface="Calibri" panose="020F0502020204030204" pitchFamily="34" charset="0"/>
              </a:rPr>
              <a:t>significant difference between genders. </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Of all the smokers in the dataset, 1,080 of them had 10 or less drinks per week,</a:t>
            </a:r>
          </a:p>
          <a:p>
            <a:r>
              <a:rPr lang="en-US" sz="1400" dirty="0">
                <a:solidFill>
                  <a:schemeClr val="tx1">
                    <a:lumMod val="65000"/>
                    <a:lumOff val="35000"/>
                  </a:schemeClr>
                </a:solidFill>
                <a:latin typeface="Calibri" panose="020F0502020204030204" pitchFamily="34" charset="0"/>
                <a:cs typeface="Calibri" panose="020F0502020204030204" pitchFamily="34" charset="0"/>
              </a:rPr>
              <a:t>while 926 individuals had more than 10.</a:t>
            </a:r>
          </a:p>
        </p:txBody>
      </p:sp>
    </p:spTree>
    <p:extLst>
      <p:ext uri="{BB962C8B-B14F-4D97-AF65-F5344CB8AC3E}">
        <p14:creationId xmlns:p14="http://schemas.microsoft.com/office/powerpoint/2010/main" val="160931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2CD3C1FA-64F3-EB7D-825C-DD91DAEAEF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B36948-A2CE-3877-0F75-99B98C1B709F}"/>
              </a:ext>
            </a:extLst>
          </p:cNvPr>
          <p:cNvSpPr txBox="1"/>
          <p:nvPr/>
        </p:nvSpPr>
        <p:spPr>
          <a:xfrm>
            <a:off x="407773" y="160639"/>
            <a:ext cx="10685939" cy="769441"/>
          </a:xfrm>
          <a:prstGeom prst="rect">
            <a:avLst/>
          </a:prstGeom>
          <a:noFill/>
        </p:spPr>
        <p:txBody>
          <a:bodyPr wrap="none" rtlCol="0">
            <a:spAutoFit/>
          </a:bodyPr>
          <a:lstStyle/>
          <a:p>
            <a:r>
              <a:rPr lang="en-US" sz="4400" dirty="0">
                <a:solidFill>
                  <a:schemeClr val="tx1">
                    <a:lumMod val="65000"/>
                    <a:lumOff val="35000"/>
                  </a:schemeClr>
                </a:solidFill>
              </a:rPr>
              <a:t>Cumulative Distribution Function (CDF)</a:t>
            </a:r>
          </a:p>
        </p:txBody>
      </p:sp>
      <p:cxnSp>
        <p:nvCxnSpPr>
          <p:cNvPr id="4" name="Straight Connector 3">
            <a:extLst>
              <a:ext uri="{FF2B5EF4-FFF2-40B4-BE49-F238E27FC236}">
                <a16:creationId xmlns:a16="http://schemas.microsoft.com/office/drawing/2014/main" id="{1D94F07E-8C3F-DBAC-392A-B49BE1D917C1}"/>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E796F0E-EFCD-3B8F-05B2-9EDE3CD07100}"/>
              </a:ext>
            </a:extLst>
          </p:cNvPr>
          <p:cNvPicPr>
            <a:picLocks noChangeAspect="1"/>
          </p:cNvPicPr>
          <p:nvPr/>
        </p:nvPicPr>
        <p:blipFill>
          <a:blip r:embed="rId2"/>
          <a:stretch>
            <a:fillRect/>
          </a:stretch>
        </p:blipFill>
        <p:spPr>
          <a:xfrm>
            <a:off x="6400028" y="1719072"/>
            <a:ext cx="5400675" cy="4114800"/>
          </a:xfrm>
          <a:prstGeom prst="rect">
            <a:avLst/>
          </a:prstGeom>
        </p:spPr>
      </p:pic>
      <p:sp>
        <p:nvSpPr>
          <p:cNvPr id="3" name="TextBox 2">
            <a:extLst>
              <a:ext uri="{FF2B5EF4-FFF2-40B4-BE49-F238E27FC236}">
                <a16:creationId xmlns:a16="http://schemas.microsoft.com/office/drawing/2014/main" id="{291CE903-DB5B-EEB9-7DAA-8A91C68CC23D}"/>
              </a:ext>
            </a:extLst>
          </p:cNvPr>
          <p:cNvSpPr txBox="1"/>
          <p:nvPr/>
        </p:nvSpPr>
        <p:spPr>
          <a:xfrm>
            <a:off x="407773" y="1345704"/>
            <a:ext cx="5653920" cy="2062103"/>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This CDF plot represents the probability of the age of death for males, both</a:t>
            </a:r>
          </a:p>
          <a:p>
            <a:r>
              <a:rPr lang="en-US" sz="1400" dirty="0">
                <a:solidFill>
                  <a:schemeClr val="tx1">
                    <a:lumMod val="65000"/>
                    <a:lumOff val="35000"/>
                  </a:schemeClr>
                </a:solidFill>
                <a:latin typeface="Calibri" panose="020F0502020204030204" pitchFamily="34" charset="0"/>
                <a:cs typeface="Calibri" panose="020F0502020204030204" pitchFamily="34" charset="0"/>
              </a:rPr>
              <a:t>smokers and non-smokers.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Although it doesn’t appear to be a big difference, smokers have a higher</a:t>
            </a:r>
          </a:p>
          <a:p>
            <a:r>
              <a:rPr lang="en-US" sz="1400" dirty="0">
                <a:solidFill>
                  <a:schemeClr val="tx1">
                    <a:lumMod val="65000"/>
                    <a:lumOff val="35000"/>
                  </a:schemeClr>
                </a:solidFill>
                <a:latin typeface="Calibri" panose="020F0502020204030204" pitchFamily="34" charset="0"/>
                <a:cs typeface="Calibri" panose="020F0502020204030204" pitchFamily="34" charset="0"/>
              </a:rPr>
              <a:t>probability to die than non-smokers of the same age.</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1286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2CD3C1FA-64F3-EB7D-825C-DD91DAEAEF8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B36948-A2CE-3877-0F75-99B98C1B709F}"/>
              </a:ext>
            </a:extLst>
          </p:cNvPr>
          <p:cNvSpPr txBox="1"/>
          <p:nvPr/>
        </p:nvSpPr>
        <p:spPr>
          <a:xfrm>
            <a:off x="407773" y="160639"/>
            <a:ext cx="10685939" cy="769441"/>
          </a:xfrm>
          <a:prstGeom prst="rect">
            <a:avLst/>
          </a:prstGeom>
          <a:noFill/>
        </p:spPr>
        <p:txBody>
          <a:bodyPr wrap="none" rtlCol="0">
            <a:spAutoFit/>
          </a:bodyPr>
          <a:lstStyle/>
          <a:p>
            <a:r>
              <a:rPr lang="en-US" sz="4400" dirty="0">
                <a:solidFill>
                  <a:schemeClr val="tx1">
                    <a:lumMod val="65000"/>
                    <a:lumOff val="35000"/>
                  </a:schemeClr>
                </a:solidFill>
              </a:rPr>
              <a:t>Cumulative Distribution Function (CDF)</a:t>
            </a:r>
          </a:p>
        </p:txBody>
      </p:sp>
      <p:cxnSp>
        <p:nvCxnSpPr>
          <p:cNvPr id="4" name="Straight Connector 3">
            <a:extLst>
              <a:ext uri="{FF2B5EF4-FFF2-40B4-BE49-F238E27FC236}">
                <a16:creationId xmlns:a16="http://schemas.microsoft.com/office/drawing/2014/main" id="{1D94F07E-8C3F-DBAC-392A-B49BE1D917C1}"/>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F744395D-614A-EDF8-8F09-EA88B761E758}"/>
              </a:ext>
            </a:extLst>
          </p:cNvPr>
          <p:cNvPicPr>
            <a:picLocks noChangeAspect="1"/>
          </p:cNvPicPr>
          <p:nvPr/>
        </p:nvPicPr>
        <p:blipFill>
          <a:blip r:embed="rId2"/>
          <a:stretch>
            <a:fillRect/>
          </a:stretch>
        </p:blipFill>
        <p:spPr>
          <a:xfrm>
            <a:off x="6400028" y="1719072"/>
            <a:ext cx="5400675" cy="4114800"/>
          </a:xfrm>
          <a:prstGeom prst="rect">
            <a:avLst/>
          </a:prstGeom>
        </p:spPr>
      </p:pic>
      <p:sp>
        <p:nvSpPr>
          <p:cNvPr id="3" name="TextBox 2">
            <a:extLst>
              <a:ext uri="{FF2B5EF4-FFF2-40B4-BE49-F238E27FC236}">
                <a16:creationId xmlns:a16="http://schemas.microsoft.com/office/drawing/2014/main" id="{FDE1B89B-EA7F-3DF9-1EA6-CF4B3E73B7CE}"/>
              </a:ext>
            </a:extLst>
          </p:cNvPr>
          <p:cNvSpPr txBox="1"/>
          <p:nvPr/>
        </p:nvSpPr>
        <p:spPr>
          <a:xfrm>
            <a:off x="407773" y="1345704"/>
            <a:ext cx="6008504" cy="2277547"/>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This CDF plot represents the probability of the age of death for females, both</a:t>
            </a:r>
          </a:p>
          <a:p>
            <a:r>
              <a:rPr lang="en-US" sz="1400" dirty="0">
                <a:solidFill>
                  <a:schemeClr val="tx1">
                    <a:lumMod val="65000"/>
                    <a:lumOff val="35000"/>
                  </a:schemeClr>
                </a:solidFill>
                <a:latin typeface="Calibri" panose="020F0502020204030204" pitchFamily="34" charset="0"/>
                <a:cs typeface="Calibri" panose="020F0502020204030204" pitchFamily="34" charset="0"/>
              </a:rPr>
              <a:t>smokers and non-smokers.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Just like with the CDF plot for male smokes,  it doesn’t appear to be a big</a:t>
            </a:r>
          </a:p>
          <a:p>
            <a:r>
              <a:rPr lang="en-US" sz="1400" dirty="0">
                <a:solidFill>
                  <a:schemeClr val="tx1">
                    <a:lumMod val="65000"/>
                    <a:lumOff val="35000"/>
                  </a:schemeClr>
                </a:solidFill>
                <a:latin typeface="Calibri" panose="020F0502020204030204" pitchFamily="34" charset="0"/>
                <a:cs typeface="Calibri" panose="020F0502020204030204" pitchFamily="34" charset="0"/>
              </a:rPr>
              <a:t>difference. However, smokers have a higher probability to die than non-smokers</a:t>
            </a:r>
          </a:p>
          <a:p>
            <a:r>
              <a:rPr lang="en-US" sz="1400" dirty="0">
                <a:solidFill>
                  <a:schemeClr val="tx1">
                    <a:lumMod val="65000"/>
                    <a:lumOff val="35000"/>
                  </a:schemeClr>
                </a:solidFill>
                <a:latin typeface="Calibri" panose="020F0502020204030204" pitchFamily="34" charset="0"/>
                <a:cs typeface="Calibri" panose="020F0502020204030204" pitchFamily="34" charset="0"/>
              </a:rPr>
              <a:t>of the same age.</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70537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D4D34CA5-11BC-C87E-519D-6DC04A19E6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23E94F9-F097-F831-29C9-E53ED70E5C53}"/>
              </a:ext>
            </a:extLst>
          </p:cNvPr>
          <p:cNvSpPr txBox="1"/>
          <p:nvPr/>
        </p:nvSpPr>
        <p:spPr>
          <a:xfrm>
            <a:off x="407773" y="160639"/>
            <a:ext cx="6338595" cy="769441"/>
          </a:xfrm>
          <a:prstGeom prst="rect">
            <a:avLst/>
          </a:prstGeom>
          <a:noFill/>
        </p:spPr>
        <p:txBody>
          <a:bodyPr wrap="none" rtlCol="0">
            <a:spAutoFit/>
          </a:bodyPr>
          <a:lstStyle/>
          <a:p>
            <a:r>
              <a:rPr lang="en-US" sz="4400" dirty="0">
                <a:solidFill>
                  <a:schemeClr val="tx1">
                    <a:lumMod val="65000"/>
                    <a:lumOff val="35000"/>
                  </a:schemeClr>
                </a:solidFill>
              </a:rPr>
              <a:t>Normal Probability Plot</a:t>
            </a:r>
          </a:p>
        </p:txBody>
      </p:sp>
      <p:cxnSp>
        <p:nvCxnSpPr>
          <p:cNvPr id="4" name="Straight Connector 3">
            <a:extLst>
              <a:ext uri="{FF2B5EF4-FFF2-40B4-BE49-F238E27FC236}">
                <a16:creationId xmlns:a16="http://schemas.microsoft.com/office/drawing/2014/main" id="{5A988FC9-ACCB-A0B2-7F7B-733014A52C8D}"/>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BEB60CFC-659D-7288-B1F0-1CB67C4D744E}"/>
              </a:ext>
            </a:extLst>
          </p:cNvPr>
          <p:cNvPicPr>
            <a:picLocks noChangeAspect="1"/>
          </p:cNvPicPr>
          <p:nvPr/>
        </p:nvPicPr>
        <p:blipFill>
          <a:blip r:embed="rId2"/>
          <a:stretch>
            <a:fillRect/>
          </a:stretch>
        </p:blipFill>
        <p:spPr>
          <a:xfrm>
            <a:off x="6400800" y="1719072"/>
            <a:ext cx="5438775" cy="4333875"/>
          </a:xfrm>
          <a:prstGeom prst="rect">
            <a:avLst/>
          </a:prstGeom>
        </p:spPr>
      </p:pic>
      <p:sp>
        <p:nvSpPr>
          <p:cNvPr id="3" name="TextBox 2">
            <a:extLst>
              <a:ext uri="{FF2B5EF4-FFF2-40B4-BE49-F238E27FC236}">
                <a16:creationId xmlns:a16="http://schemas.microsoft.com/office/drawing/2014/main" id="{D5004010-E227-9B9F-FA9E-D8D3E541665D}"/>
              </a:ext>
            </a:extLst>
          </p:cNvPr>
          <p:cNvSpPr txBox="1"/>
          <p:nvPr/>
        </p:nvSpPr>
        <p:spPr>
          <a:xfrm>
            <a:off x="407773" y="1345704"/>
            <a:ext cx="5734711" cy="1846659"/>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The Normal Probability Plot uses a reference line (“line of identity”). For this</a:t>
            </a:r>
          </a:p>
          <a:p>
            <a:r>
              <a:rPr lang="en-US" sz="1400" dirty="0">
                <a:solidFill>
                  <a:schemeClr val="tx1">
                    <a:lumMod val="65000"/>
                    <a:lumOff val="35000"/>
                  </a:schemeClr>
                </a:solidFill>
                <a:latin typeface="Calibri" panose="020F0502020204030204" pitchFamily="34" charset="0"/>
                <a:cs typeface="Calibri" panose="020F0502020204030204" pitchFamily="34" charset="0"/>
              </a:rPr>
              <a:t>particular example, most of the points follow the line, which means that the</a:t>
            </a:r>
          </a:p>
          <a:p>
            <a:r>
              <a:rPr lang="en-US" sz="1400" dirty="0">
                <a:solidFill>
                  <a:schemeClr val="tx1">
                    <a:lumMod val="65000"/>
                    <a:lumOff val="35000"/>
                  </a:schemeClr>
                </a:solidFill>
                <a:latin typeface="Calibri" panose="020F0502020204030204" pitchFamily="34" charset="0"/>
                <a:cs typeface="Calibri" panose="020F0502020204030204" pitchFamily="34" charset="0"/>
              </a:rPr>
              <a:t>cholesterol data is normally distributed.</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This can also be observed in the histogram for the cholesterol levels.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57600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C0F7ED03-8313-19D0-A3DE-DB541FC3E9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86B9BE-1E99-DAEA-0E9F-019BA206EC8D}"/>
              </a:ext>
            </a:extLst>
          </p:cNvPr>
          <p:cNvSpPr txBox="1"/>
          <p:nvPr/>
        </p:nvSpPr>
        <p:spPr>
          <a:xfrm>
            <a:off x="407773" y="160639"/>
            <a:ext cx="3294492" cy="769441"/>
          </a:xfrm>
          <a:prstGeom prst="rect">
            <a:avLst/>
          </a:prstGeom>
          <a:noFill/>
        </p:spPr>
        <p:txBody>
          <a:bodyPr wrap="none" rtlCol="0">
            <a:spAutoFit/>
          </a:bodyPr>
          <a:lstStyle/>
          <a:p>
            <a:r>
              <a:rPr lang="en-US" sz="4400" dirty="0">
                <a:solidFill>
                  <a:schemeClr val="tx1">
                    <a:lumMod val="65000"/>
                    <a:lumOff val="35000"/>
                  </a:schemeClr>
                </a:solidFill>
              </a:rPr>
              <a:t>Scatter Plot</a:t>
            </a:r>
          </a:p>
        </p:txBody>
      </p:sp>
      <p:cxnSp>
        <p:nvCxnSpPr>
          <p:cNvPr id="4" name="Straight Connector 3">
            <a:extLst>
              <a:ext uri="{FF2B5EF4-FFF2-40B4-BE49-F238E27FC236}">
                <a16:creationId xmlns:a16="http://schemas.microsoft.com/office/drawing/2014/main" id="{B93EE625-0015-1317-677C-740281D12F80}"/>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346860B1-3517-9A51-5BB1-86299F61EA67}"/>
              </a:ext>
            </a:extLst>
          </p:cNvPr>
          <p:cNvPicPr>
            <a:picLocks noChangeAspect="1"/>
          </p:cNvPicPr>
          <p:nvPr/>
        </p:nvPicPr>
        <p:blipFill>
          <a:blip r:embed="rId2"/>
          <a:stretch>
            <a:fillRect/>
          </a:stretch>
        </p:blipFill>
        <p:spPr>
          <a:xfrm>
            <a:off x="6400800" y="1719072"/>
            <a:ext cx="5438775" cy="4333875"/>
          </a:xfrm>
          <a:prstGeom prst="rect">
            <a:avLst/>
          </a:prstGeom>
        </p:spPr>
      </p:pic>
      <p:sp>
        <p:nvSpPr>
          <p:cNvPr id="5" name="TextBox 4">
            <a:extLst>
              <a:ext uri="{FF2B5EF4-FFF2-40B4-BE49-F238E27FC236}">
                <a16:creationId xmlns:a16="http://schemas.microsoft.com/office/drawing/2014/main" id="{3F5FBB18-45FB-3A88-72FA-0D2A71D12CC7}"/>
              </a:ext>
            </a:extLst>
          </p:cNvPr>
          <p:cNvSpPr txBox="1"/>
          <p:nvPr/>
        </p:nvSpPr>
        <p:spPr>
          <a:xfrm>
            <a:off x="407773" y="1345704"/>
            <a:ext cx="5794535" cy="2277547"/>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This plot suggest that there is little to no correlation between the weight and</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 cholesterol level. Also, the wide dispersion between points suggest a</a:t>
            </a:r>
          </a:p>
          <a:p>
            <a:r>
              <a:rPr lang="en-US" sz="1400" dirty="0">
                <a:solidFill>
                  <a:schemeClr val="tx1">
                    <a:lumMod val="65000"/>
                    <a:lumOff val="35000"/>
                  </a:schemeClr>
                </a:solidFill>
                <a:latin typeface="Calibri" panose="020F0502020204030204" pitchFamily="34" charset="0"/>
                <a:cs typeface="Calibri" panose="020F0502020204030204" pitchFamily="34" charset="0"/>
              </a:rPr>
              <a:t>weak relationship between these variables.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There are a few outliers showing interesting combinations, like a medium </a:t>
            </a:r>
          </a:p>
          <a:p>
            <a:r>
              <a:rPr lang="en-US" sz="1400" dirty="0">
                <a:solidFill>
                  <a:schemeClr val="tx1">
                    <a:lumMod val="65000"/>
                    <a:lumOff val="35000"/>
                  </a:schemeClr>
                </a:solidFill>
                <a:latin typeface="Calibri" panose="020F0502020204030204" pitchFamily="34" charset="0"/>
                <a:cs typeface="Calibri" panose="020F0502020204030204" pitchFamily="34" charset="0"/>
              </a:rPr>
              <a:t>weight but high cholesterol level, or a relatively low cholesterol level, but</a:t>
            </a:r>
          </a:p>
          <a:p>
            <a:r>
              <a:rPr lang="en-US" sz="1400" dirty="0">
                <a:solidFill>
                  <a:schemeClr val="tx1">
                    <a:lumMod val="65000"/>
                    <a:lumOff val="35000"/>
                  </a:schemeClr>
                </a:solidFill>
                <a:latin typeface="Calibri" panose="020F0502020204030204" pitchFamily="34" charset="0"/>
                <a:cs typeface="Calibri" panose="020F0502020204030204" pitchFamily="34" charset="0"/>
              </a:rPr>
              <a:t>a higher number of pounds.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A0ED9888-A44F-A053-5758-AF52694B0CD8}"/>
              </a:ext>
            </a:extLst>
          </p:cNvPr>
          <p:cNvSpPr txBox="1"/>
          <p:nvPr/>
        </p:nvSpPr>
        <p:spPr>
          <a:xfrm>
            <a:off x="407774" y="3623251"/>
            <a:ext cx="1438214" cy="338554"/>
          </a:xfrm>
          <a:prstGeom prst="rect">
            <a:avLst/>
          </a:prstGeom>
          <a:noFill/>
        </p:spPr>
        <p:txBody>
          <a:bodyPr wrap="none" rtlCol="0">
            <a:spAutoFit/>
          </a:bodyPr>
          <a:lstStyle/>
          <a:p>
            <a:r>
              <a:rPr lang="en-US" sz="1600" b="1" dirty="0">
                <a:solidFill>
                  <a:schemeClr val="tx1">
                    <a:lumMod val="65000"/>
                    <a:lumOff val="35000"/>
                  </a:schemeClr>
                </a:solidFill>
              </a:rPr>
              <a:t>Correlations:</a:t>
            </a:r>
          </a:p>
        </p:txBody>
      </p:sp>
      <p:graphicFrame>
        <p:nvGraphicFramePr>
          <p:cNvPr id="8" name="Table 7">
            <a:extLst>
              <a:ext uri="{FF2B5EF4-FFF2-40B4-BE49-F238E27FC236}">
                <a16:creationId xmlns:a16="http://schemas.microsoft.com/office/drawing/2014/main" id="{16A31647-14DA-7C3E-E7E4-E985DFBAC56F}"/>
              </a:ext>
            </a:extLst>
          </p:cNvPr>
          <p:cNvGraphicFramePr>
            <a:graphicFrameLocks noGrp="1"/>
          </p:cNvGraphicFramePr>
          <p:nvPr>
            <p:extLst>
              <p:ext uri="{D42A27DB-BD31-4B8C-83A1-F6EECF244321}">
                <p14:modId xmlns:p14="http://schemas.microsoft.com/office/powerpoint/2010/main" val="1187449194"/>
              </p:ext>
            </p:extLst>
          </p:nvPr>
        </p:nvGraphicFramePr>
        <p:xfrm>
          <a:off x="407773" y="4019218"/>
          <a:ext cx="3255306" cy="919012"/>
        </p:xfrm>
        <a:graphic>
          <a:graphicData uri="http://schemas.openxmlformats.org/drawingml/2006/table">
            <a:tbl>
              <a:tblPr firstRow="1" bandRow="1">
                <a:noFill/>
                <a:tableStyleId>{2D5ABB26-0587-4C30-8999-92F81FD0307C}</a:tableStyleId>
              </a:tblPr>
              <a:tblGrid>
                <a:gridCol w="2026789">
                  <a:extLst>
                    <a:ext uri="{9D8B030D-6E8A-4147-A177-3AD203B41FA5}">
                      <a16:colId xmlns:a16="http://schemas.microsoft.com/office/drawing/2014/main" val="1845745399"/>
                    </a:ext>
                  </a:extLst>
                </a:gridCol>
                <a:gridCol w="1228517">
                  <a:extLst>
                    <a:ext uri="{9D8B030D-6E8A-4147-A177-3AD203B41FA5}">
                      <a16:colId xmlns:a16="http://schemas.microsoft.com/office/drawing/2014/main" val="2911684126"/>
                    </a:ext>
                  </a:extLst>
                </a:gridCol>
              </a:tblGrid>
              <a:tr h="214940">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Covariance:</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-87.94376</a:t>
                      </a:r>
                    </a:p>
                  </a:txBody>
                  <a:tcPr>
                    <a:noFill/>
                  </a:tcPr>
                </a:tc>
                <a:extLst>
                  <a:ext uri="{0D108BD9-81ED-4DB2-BD59-A6C34878D82A}">
                    <a16:rowId xmlns:a16="http://schemas.microsoft.com/office/drawing/2014/main" val="3504164141"/>
                  </a:ext>
                </a:extLst>
              </a:tr>
              <a:tr h="255993">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Correlation: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-0.06983804</a:t>
                      </a:r>
                    </a:p>
                  </a:txBody>
                  <a:tcPr>
                    <a:noFill/>
                  </a:tcPr>
                </a:tc>
                <a:extLst>
                  <a:ext uri="{0D108BD9-81ED-4DB2-BD59-A6C34878D82A}">
                    <a16:rowId xmlns:a16="http://schemas.microsoft.com/office/drawing/2014/main" val="3788616436"/>
                  </a:ext>
                </a:extLst>
              </a:tr>
              <a:tr h="309412">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Spearman’s Correlation: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-0.08751628</a:t>
                      </a:r>
                    </a:p>
                  </a:txBody>
                  <a:tcPr>
                    <a:noFill/>
                  </a:tcPr>
                </a:tc>
                <a:extLst>
                  <a:ext uri="{0D108BD9-81ED-4DB2-BD59-A6C34878D82A}">
                    <a16:rowId xmlns:a16="http://schemas.microsoft.com/office/drawing/2014/main" val="357476479"/>
                  </a:ext>
                </a:extLst>
              </a:tr>
            </a:tbl>
          </a:graphicData>
        </a:graphic>
      </p:graphicFrame>
    </p:spTree>
    <p:extLst>
      <p:ext uri="{BB962C8B-B14F-4D97-AF65-F5344CB8AC3E}">
        <p14:creationId xmlns:p14="http://schemas.microsoft.com/office/powerpoint/2010/main" val="584701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C0F7ED03-8313-19D0-A3DE-DB541FC3E9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86B9BE-1E99-DAEA-0E9F-019BA206EC8D}"/>
              </a:ext>
            </a:extLst>
          </p:cNvPr>
          <p:cNvSpPr txBox="1"/>
          <p:nvPr/>
        </p:nvSpPr>
        <p:spPr>
          <a:xfrm>
            <a:off x="407773" y="160639"/>
            <a:ext cx="3294492" cy="769441"/>
          </a:xfrm>
          <a:prstGeom prst="rect">
            <a:avLst/>
          </a:prstGeom>
          <a:noFill/>
        </p:spPr>
        <p:txBody>
          <a:bodyPr wrap="none" rtlCol="0">
            <a:spAutoFit/>
          </a:bodyPr>
          <a:lstStyle/>
          <a:p>
            <a:r>
              <a:rPr lang="en-US" sz="4400" dirty="0">
                <a:solidFill>
                  <a:schemeClr val="tx1">
                    <a:lumMod val="65000"/>
                    <a:lumOff val="35000"/>
                  </a:schemeClr>
                </a:solidFill>
              </a:rPr>
              <a:t>Scatter Plot</a:t>
            </a:r>
          </a:p>
        </p:txBody>
      </p:sp>
      <p:cxnSp>
        <p:nvCxnSpPr>
          <p:cNvPr id="4" name="Straight Connector 3">
            <a:extLst>
              <a:ext uri="{FF2B5EF4-FFF2-40B4-BE49-F238E27FC236}">
                <a16:creationId xmlns:a16="http://schemas.microsoft.com/office/drawing/2014/main" id="{B93EE625-0015-1317-677C-740281D12F80}"/>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EBAA9E40-5246-DC5C-0EBD-FFBB7841ACCE}"/>
              </a:ext>
            </a:extLst>
          </p:cNvPr>
          <p:cNvPicPr>
            <a:picLocks noChangeAspect="1"/>
          </p:cNvPicPr>
          <p:nvPr/>
        </p:nvPicPr>
        <p:blipFill>
          <a:blip r:embed="rId2"/>
          <a:stretch>
            <a:fillRect/>
          </a:stretch>
        </p:blipFill>
        <p:spPr>
          <a:xfrm>
            <a:off x="6400800" y="1719072"/>
            <a:ext cx="5524500" cy="4333875"/>
          </a:xfrm>
          <a:prstGeom prst="rect">
            <a:avLst/>
          </a:prstGeom>
        </p:spPr>
      </p:pic>
      <p:sp>
        <p:nvSpPr>
          <p:cNvPr id="7" name="TextBox 6">
            <a:extLst>
              <a:ext uri="{FF2B5EF4-FFF2-40B4-BE49-F238E27FC236}">
                <a16:creationId xmlns:a16="http://schemas.microsoft.com/office/drawing/2014/main" id="{6BCAEAEA-3E53-F579-7475-D547B1CD4668}"/>
              </a:ext>
            </a:extLst>
          </p:cNvPr>
          <p:cNvSpPr txBox="1"/>
          <p:nvPr/>
        </p:nvSpPr>
        <p:spPr>
          <a:xfrm>
            <a:off x="407773" y="1345704"/>
            <a:ext cx="6047553" cy="2062103"/>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This plot suggest that there is little to no correlation between the weight and</a:t>
            </a:r>
          </a:p>
          <a:p>
            <a:r>
              <a:rPr lang="en-US" sz="1400" dirty="0">
                <a:solidFill>
                  <a:schemeClr val="tx1">
                    <a:lumMod val="65000"/>
                    <a:lumOff val="35000"/>
                  </a:schemeClr>
                </a:solidFill>
                <a:latin typeface="Calibri" panose="020F0502020204030204" pitchFamily="34" charset="0"/>
                <a:cs typeface="Calibri" panose="020F0502020204030204" pitchFamily="34" charset="0"/>
              </a:rPr>
              <a:t>the number of weekly alcoholic drinks. Also, the wide dispersion between points</a:t>
            </a:r>
          </a:p>
          <a:p>
            <a:r>
              <a:rPr lang="en-US" sz="1400" dirty="0">
                <a:solidFill>
                  <a:schemeClr val="tx1">
                    <a:lumMod val="65000"/>
                    <a:lumOff val="35000"/>
                  </a:schemeClr>
                </a:solidFill>
                <a:latin typeface="Calibri" panose="020F0502020204030204" pitchFamily="34" charset="0"/>
                <a:cs typeface="Calibri" panose="020F0502020204030204" pitchFamily="34" charset="0"/>
              </a:rPr>
              <a:t>suggest a weak relationship between these variables.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The outliers here also show interesting combinations, like a medium weight and</a:t>
            </a:r>
          </a:p>
          <a:p>
            <a:r>
              <a:rPr lang="en-US" sz="1400" dirty="0">
                <a:solidFill>
                  <a:schemeClr val="tx1">
                    <a:lumMod val="65000"/>
                    <a:lumOff val="35000"/>
                  </a:schemeClr>
                </a:solidFill>
                <a:latin typeface="Calibri" panose="020F0502020204030204" pitchFamily="34" charset="0"/>
                <a:cs typeface="Calibri" panose="020F0502020204030204" pitchFamily="34" charset="0"/>
              </a:rPr>
              <a:t>a high number of drinks. </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67153387-8848-7CC9-486C-FCAA90DA23C0}"/>
              </a:ext>
            </a:extLst>
          </p:cNvPr>
          <p:cNvSpPr txBox="1"/>
          <p:nvPr/>
        </p:nvSpPr>
        <p:spPr>
          <a:xfrm>
            <a:off x="407774" y="3623251"/>
            <a:ext cx="1438214" cy="338554"/>
          </a:xfrm>
          <a:prstGeom prst="rect">
            <a:avLst/>
          </a:prstGeom>
          <a:noFill/>
        </p:spPr>
        <p:txBody>
          <a:bodyPr wrap="none" rtlCol="0">
            <a:spAutoFit/>
          </a:bodyPr>
          <a:lstStyle/>
          <a:p>
            <a:r>
              <a:rPr lang="en-US" sz="1600" b="1" dirty="0">
                <a:solidFill>
                  <a:schemeClr val="tx1">
                    <a:lumMod val="65000"/>
                    <a:lumOff val="35000"/>
                  </a:schemeClr>
                </a:solidFill>
              </a:rPr>
              <a:t>Correlations:</a:t>
            </a:r>
          </a:p>
        </p:txBody>
      </p:sp>
      <p:graphicFrame>
        <p:nvGraphicFramePr>
          <p:cNvPr id="9" name="Table 8">
            <a:extLst>
              <a:ext uri="{FF2B5EF4-FFF2-40B4-BE49-F238E27FC236}">
                <a16:creationId xmlns:a16="http://schemas.microsoft.com/office/drawing/2014/main" id="{8ACDD52F-4228-5545-1818-D3F7383FBAA6}"/>
              </a:ext>
            </a:extLst>
          </p:cNvPr>
          <p:cNvGraphicFramePr>
            <a:graphicFrameLocks noGrp="1"/>
          </p:cNvGraphicFramePr>
          <p:nvPr>
            <p:extLst>
              <p:ext uri="{D42A27DB-BD31-4B8C-83A1-F6EECF244321}">
                <p14:modId xmlns:p14="http://schemas.microsoft.com/office/powerpoint/2010/main" val="1126656732"/>
              </p:ext>
            </p:extLst>
          </p:nvPr>
        </p:nvGraphicFramePr>
        <p:xfrm>
          <a:off x="407773" y="4019218"/>
          <a:ext cx="3255306" cy="919012"/>
        </p:xfrm>
        <a:graphic>
          <a:graphicData uri="http://schemas.openxmlformats.org/drawingml/2006/table">
            <a:tbl>
              <a:tblPr firstRow="1" bandRow="1">
                <a:noFill/>
                <a:tableStyleId>{2D5ABB26-0587-4C30-8999-92F81FD0307C}</a:tableStyleId>
              </a:tblPr>
              <a:tblGrid>
                <a:gridCol w="2026789">
                  <a:extLst>
                    <a:ext uri="{9D8B030D-6E8A-4147-A177-3AD203B41FA5}">
                      <a16:colId xmlns:a16="http://schemas.microsoft.com/office/drawing/2014/main" val="1845745399"/>
                    </a:ext>
                  </a:extLst>
                </a:gridCol>
                <a:gridCol w="1228517">
                  <a:extLst>
                    <a:ext uri="{9D8B030D-6E8A-4147-A177-3AD203B41FA5}">
                      <a16:colId xmlns:a16="http://schemas.microsoft.com/office/drawing/2014/main" val="2911684126"/>
                    </a:ext>
                  </a:extLst>
                </a:gridCol>
              </a:tblGrid>
              <a:tr h="214940">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Covariance:</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54.71622</a:t>
                      </a:r>
                    </a:p>
                  </a:txBody>
                  <a:tcPr>
                    <a:noFill/>
                  </a:tcPr>
                </a:tc>
                <a:extLst>
                  <a:ext uri="{0D108BD9-81ED-4DB2-BD59-A6C34878D82A}">
                    <a16:rowId xmlns:a16="http://schemas.microsoft.com/office/drawing/2014/main" val="3504164141"/>
                  </a:ext>
                </a:extLst>
              </a:tr>
              <a:tr h="255993">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Correlation: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0.268488</a:t>
                      </a:r>
                    </a:p>
                  </a:txBody>
                  <a:tcPr>
                    <a:noFill/>
                  </a:tcPr>
                </a:tc>
                <a:extLst>
                  <a:ext uri="{0D108BD9-81ED-4DB2-BD59-A6C34878D82A}">
                    <a16:rowId xmlns:a16="http://schemas.microsoft.com/office/drawing/2014/main" val="3788616436"/>
                  </a:ext>
                </a:extLst>
              </a:tr>
              <a:tr h="309412">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Spearman’s Correlation:</a:t>
                      </a:r>
                    </a:p>
                  </a:txBody>
                  <a:tcPr>
                    <a:noFill/>
                  </a:tcPr>
                </a:tc>
                <a:tc>
                  <a:txBody>
                    <a:bodyPr/>
                    <a:lstStyle/>
                    <a:p>
                      <a:r>
                        <a:rPr lang="en-US" sz="1400" b="0" i="0" dirty="0">
                          <a:solidFill>
                            <a:schemeClr val="tx1">
                              <a:lumMod val="65000"/>
                              <a:lumOff val="35000"/>
                            </a:schemeClr>
                          </a:solidFill>
                          <a:latin typeface="Calibri" panose="020F0502020204030204" pitchFamily="34" charset="0"/>
                          <a:cs typeface="Calibri" panose="020F0502020204030204" pitchFamily="34" charset="0"/>
                        </a:rPr>
                        <a:t>0.258907</a:t>
                      </a:r>
                    </a:p>
                  </a:txBody>
                  <a:tcPr>
                    <a:noFill/>
                  </a:tcPr>
                </a:tc>
                <a:extLst>
                  <a:ext uri="{0D108BD9-81ED-4DB2-BD59-A6C34878D82A}">
                    <a16:rowId xmlns:a16="http://schemas.microsoft.com/office/drawing/2014/main" val="357476479"/>
                  </a:ext>
                </a:extLst>
              </a:tr>
            </a:tbl>
          </a:graphicData>
        </a:graphic>
      </p:graphicFrame>
    </p:spTree>
    <p:extLst>
      <p:ext uri="{BB962C8B-B14F-4D97-AF65-F5344CB8AC3E}">
        <p14:creationId xmlns:p14="http://schemas.microsoft.com/office/powerpoint/2010/main" val="2523101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34134D67-E2FB-7302-F58C-34D88092C0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8F4CA1E-140B-963A-B6C0-27BD06D7C510}"/>
              </a:ext>
            </a:extLst>
          </p:cNvPr>
          <p:cNvSpPr txBox="1"/>
          <p:nvPr/>
        </p:nvSpPr>
        <p:spPr>
          <a:xfrm>
            <a:off x="407773" y="160639"/>
            <a:ext cx="4253087" cy="769441"/>
          </a:xfrm>
          <a:prstGeom prst="rect">
            <a:avLst/>
          </a:prstGeom>
          <a:noFill/>
        </p:spPr>
        <p:txBody>
          <a:bodyPr wrap="none" rtlCol="0">
            <a:spAutoFit/>
          </a:bodyPr>
          <a:lstStyle/>
          <a:p>
            <a:r>
              <a:rPr lang="en-US" sz="4400" dirty="0">
                <a:solidFill>
                  <a:schemeClr val="tx1">
                    <a:lumMod val="65000"/>
                    <a:lumOff val="35000"/>
                  </a:schemeClr>
                </a:solidFill>
              </a:rPr>
              <a:t>Hypothesis Test</a:t>
            </a:r>
          </a:p>
        </p:txBody>
      </p:sp>
      <p:cxnSp>
        <p:nvCxnSpPr>
          <p:cNvPr id="4" name="Straight Connector 3">
            <a:extLst>
              <a:ext uri="{FF2B5EF4-FFF2-40B4-BE49-F238E27FC236}">
                <a16:creationId xmlns:a16="http://schemas.microsoft.com/office/drawing/2014/main" id="{FF84E74E-C85F-30FD-D6F6-6E70A8BD12DD}"/>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76B7925B-A186-CD73-50EE-E56262272FA3}"/>
              </a:ext>
            </a:extLst>
          </p:cNvPr>
          <p:cNvPicPr>
            <a:picLocks noChangeAspect="1"/>
          </p:cNvPicPr>
          <p:nvPr/>
        </p:nvPicPr>
        <p:blipFill>
          <a:blip r:embed="rId2"/>
          <a:stretch>
            <a:fillRect/>
          </a:stretch>
        </p:blipFill>
        <p:spPr>
          <a:xfrm>
            <a:off x="6400028" y="1719072"/>
            <a:ext cx="5400675" cy="4114800"/>
          </a:xfrm>
          <a:prstGeom prst="rect">
            <a:avLst/>
          </a:prstGeom>
        </p:spPr>
      </p:pic>
      <p:sp>
        <p:nvSpPr>
          <p:cNvPr id="3" name="TextBox 2">
            <a:extLst>
              <a:ext uri="{FF2B5EF4-FFF2-40B4-BE49-F238E27FC236}">
                <a16:creationId xmlns:a16="http://schemas.microsoft.com/office/drawing/2014/main" id="{52F1F5BE-D5F9-07DE-8FDB-E81F2D4F57CD}"/>
              </a:ext>
            </a:extLst>
          </p:cNvPr>
          <p:cNvSpPr txBox="1"/>
          <p:nvPr/>
        </p:nvSpPr>
        <p:spPr>
          <a:xfrm>
            <a:off x="407773" y="1345704"/>
            <a:ext cx="5226687" cy="1631216"/>
          </a:xfrm>
          <a:prstGeom prst="rect">
            <a:avLst/>
          </a:prstGeom>
          <a:noFill/>
        </p:spPr>
        <p:txBody>
          <a:bodyPr wrap="non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Using age of the male and female smokers,  the p-value is 0.0.</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This means that the observed data is extremely unlikely under the </a:t>
            </a:r>
          </a:p>
          <a:p>
            <a:r>
              <a:rPr lang="en-US" sz="1400" dirty="0">
                <a:solidFill>
                  <a:schemeClr val="tx1">
                    <a:lumMod val="65000"/>
                    <a:lumOff val="35000"/>
                  </a:schemeClr>
                </a:solidFill>
                <a:latin typeface="Calibri" panose="020F0502020204030204" pitchFamily="34" charset="0"/>
                <a:cs typeface="Calibri" panose="020F0502020204030204" pitchFamily="34" charset="0"/>
              </a:rPr>
              <a:t>null hypothesis.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82574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8D5BDEF3-3633-C7AF-A0C6-EDFBAFC63B2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61302B-B123-529C-A3EE-4DC2678925E8}"/>
              </a:ext>
            </a:extLst>
          </p:cNvPr>
          <p:cNvSpPr txBox="1"/>
          <p:nvPr/>
        </p:nvSpPr>
        <p:spPr>
          <a:xfrm>
            <a:off x="407773" y="160639"/>
            <a:ext cx="5344733" cy="769441"/>
          </a:xfrm>
          <a:prstGeom prst="rect">
            <a:avLst/>
          </a:prstGeom>
          <a:noFill/>
        </p:spPr>
        <p:txBody>
          <a:bodyPr wrap="none" rtlCol="0">
            <a:spAutoFit/>
          </a:bodyPr>
          <a:lstStyle/>
          <a:p>
            <a:r>
              <a:rPr lang="en-US" sz="4400" dirty="0">
                <a:solidFill>
                  <a:schemeClr val="tx1">
                    <a:lumMod val="65000"/>
                    <a:lumOff val="35000"/>
                  </a:schemeClr>
                </a:solidFill>
              </a:rPr>
              <a:t>Regression Analysis</a:t>
            </a:r>
          </a:p>
        </p:txBody>
      </p:sp>
      <p:graphicFrame>
        <p:nvGraphicFramePr>
          <p:cNvPr id="3" name="Table 2">
            <a:extLst>
              <a:ext uri="{FF2B5EF4-FFF2-40B4-BE49-F238E27FC236}">
                <a16:creationId xmlns:a16="http://schemas.microsoft.com/office/drawing/2014/main" id="{789DF172-BB42-6425-13C6-B1696D934BA8}"/>
              </a:ext>
            </a:extLst>
          </p:cNvPr>
          <p:cNvGraphicFramePr>
            <a:graphicFrameLocks noGrp="1"/>
          </p:cNvGraphicFramePr>
          <p:nvPr>
            <p:extLst>
              <p:ext uri="{D42A27DB-BD31-4B8C-83A1-F6EECF244321}">
                <p14:modId xmlns:p14="http://schemas.microsoft.com/office/powerpoint/2010/main" val="2994804160"/>
              </p:ext>
            </p:extLst>
          </p:nvPr>
        </p:nvGraphicFramePr>
        <p:xfrm>
          <a:off x="4582510" y="1174450"/>
          <a:ext cx="7354828" cy="3416299"/>
        </p:xfrm>
        <a:graphic>
          <a:graphicData uri="http://schemas.openxmlformats.org/drawingml/2006/table">
            <a:tbl>
              <a:tblPr/>
              <a:tblGrid>
                <a:gridCol w="1838707">
                  <a:extLst>
                    <a:ext uri="{9D8B030D-6E8A-4147-A177-3AD203B41FA5}">
                      <a16:colId xmlns:a16="http://schemas.microsoft.com/office/drawing/2014/main" val="2872602809"/>
                    </a:ext>
                  </a:extLst>
                </a:gridCol>
                <a:gridCol w="1838707">
                  <a:extLst>
                    <a:ext uri="{9D8B030D-6E8A-4147-A177-3AD203B41FA5}">
                      <a16:colId xmlns:a16="http://schemas.microsoft.com/office/drawing/2014/main" val="4069829024"/>
                    </a:ext>
                  </a:extLst>
                </a:gridCol>
                <a:gridCol w="1838707">
                  <a:extLst>
                    <a:ext uri="{9D8B030D-6E8A-4147-A177-3AD203B41FA5}">
                      <a16:colId xmlns:a16="http://schemas.microsoft.com/office/drawing/2014/main" val="1974364992"/>
                    </a:ext>
                  </a:extLst>
                </a:gridCol>
                <a:gridCol w="1838707">
                  <a:extLst>
                    <a:ext uri="{9D8B030D-6E8A-4147-A177-3AD203B41FA5}">
                      <a16:colId xmlns:a16="http://schemas.microsoft.com/office/drawing/2014/main" val="3401646727"/>
                    </a:ext>
                  </a:extLst>
                </a:gridCol>
              </a:tblGrid>
              <a:tr h="354940">
                <a:tc gridSpan="4">
                  <a:txBody>
                    <a:bodyPr/>
                    <a:lstStyle/>
                    <a:p>
                      <a:pPr algn="l"/>
                      <a:r>
                        <a:rPr lang="en-US" sz="1200" b="1" i="0" dirty="0">
                          <a:latin typeface="Calibri" panose="020F0502020204030204" pitchFamily="34" charset="0"/>
                          <a:cs typeface="Calibri" panose="020F0502020204030204" pitchFamily="34" charset="0"/>
                        </a:rPr>
                        <a:t>OLS Regression Results</a:t>
                      </a:r>
                    </a:p>
                  </a:txBody>
                  <a:tcPr marL="88735" marR="88735" marT="44368" marB="44368"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no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46847725"/>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Dep. Variable:</a:t>
                      </a:r>
                    </a:p>
                  </a:txBody>
                  <a:tcPr marL="73946" marR="73946" marT="36973" marB="36973" anchor="ctr">
                    <a:lnL w="12700" cap="flat" cmpd="sng" algn="ctr">
                      <a:solidFill>
                        <a:schemeClr val="accent1"/>
                      </a:solidFill>
                      <a:prstDash val="solid"/>
                      <a:round/>
                      <a:headEnd type="none" w="med" len="med"/>
                      <a:tailEnd type="none" w="med" len="med"/>
                    </a:lnL>
                    <a:lnR>
                      <a:noFill/>
                    </a:lnR>
                    <a:lnB>
                      <a:noFill/>
                    </a:lnB>
                    <a:noFill/>
                  </a:tcPr>
                </a:tc>
                <a:tc>
                  <a:txBody>
                    <a:bodyPr/>
                    <a:lstStyle/>
                    <a:p>
                      <a:pPr algn="r"/>
                      <a:r>
                        <a:rPr lang="en-US" sz="1200" b="0" i="0" dirty="0">
                          <a:effectLst/>
                          <a:latin typeface="Calibri" panose="020F0502020204030204" pitchFamily="34" charset="0"/>
                          <a:cs typeface="Calibri" panose="020F0502020204030204" pitchFamily="34" charset="0"/>
                        </a:rPr>
                        <a:t>age</a:t>
                      </a:r>
                    </a:p>
                  </a:txBody>
                  <a:tcPr marL="73946" marR="73946" marT="36973" marB="36973"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R-squared:</a:t>
                      </a:r>
                    </a:p>
                  </a:txBody>
                  <a:tcPr marL="73946" marR="73946" marT="36973" marB="36973"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0.200</a:t>
                      </a: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3298330381"/>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Model:</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OLS</a:t>
                      </a:r>
                    </a:p>
                  </a:txBody>
                  <a:tcPr marL="73946" marR="73946" marT="36973" marB="36973"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Adj. R-squared:</a:t>
                      </a:r>
                    </a:p>
                  </a:txBody>
                  <a:tcPr marL="73946" marR="73946" marT="36973" marB="36973"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0.200</a:t>
                      </a: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538674651"/>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Method:</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Least Squares</a:t>
                      </a:r>
                    </a:p>
                  </a:txBody>
                  <a:tcPr marL="73946" marR="73946" marT="36973" marB="36973"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F-statistic:</a:t>
                      </a:r>
                    </a:p>
                  </a:txBody>
                  <a:tcPr marL="73946" marR="73946" marT="36973" marB="36973"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1251</a:t>
                      </a: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1119209963"/>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Date:</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Tue, 25 Feb 2025</a:t>
                      </a:r>
                    </a:p>
                  </a:txBody>
                  <a:tcPr marL="73946" marR="73946" marT="36973" marB="36973"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Prob (F-statistic):</a:t>
                      </a:r>
                    </a:p>
                  </a:txBody>
                  <a:tcPr marL="73946" marR="73946" marT="36973" marB="36973"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0.00</a:t>
                      </a: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2277077826"/>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Time:</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20:19:51</a:t>
                      </a:r>
                    </a:p>
                  </a:txBody>
                  <a:tcPr marL="73946" marR="73946" marT="36973" marB="36973"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Log-Likelihood:</a:t>
                      </a:r>
                    </a:p>
                  </a:txBody>
                  <a:tcPr marL="73946" marR="73946" marT="36973" marB="36973"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-44511</a:t>
                      </a: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586244656"/>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No. Observations:</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10000</a:t>
                      </a:r>
                    </a:p>
                  </a:txBody>
                  <a:tcPr marL="73946" marR="73946" marT="36973" marB="36973"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AIC:</a:t>
                      </a:r>
                    </a:p>
                  </a:txBody>
                  <a:tcPr marL="73946" marR="73946" marT="36973" marB="36973"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8.903e+04</a:t>
                      </a: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1316101228"/>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Df Residuals:</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9997</a:t>
                      </a:r>
                    </a:p>
                  </a:txBody>
                  <a:tcPr marL="73946" marR="73946" marT="36973" marB="36973"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BIC:</a:t>
                      </a:r>
                    </a:p>
                  </a:txBody>
                  <a:tcPr marL="73946" marR="73946" marT="36973" marB="36973"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8.905e+04</a:t>
                      </a: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758230102"/>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Df Model:</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2</a:t>
                      </a:r>
                    </a:p>
                  </a:txBody>
                  <a:tcPr marL="73946" marR="73946" marT="36973" marB="36973" anchor="ctr">
                    <a:lnL>
                      <a:noFill/>
                    </a:lnL>
                    <a:lnR>
                      <a:noFill/>
                    </a:lnR>
                    <a:lnT>
                      <a:noFill/>
                    </a:lnT>
                    <a:lnB>
                      <a:noFill/>
                    </a:lnB>
                    <a:noFill/>
                  </a:tcPr>
                </a:tc>
                <a:tc>
                  <a:txBody>
                    <a:bodyPr/>
                    <a:lstStyle/>
                    <a:p>
                      <a:pPr algn="r" fontAlgn="ctr"/>
                      <a:endParaRPr lang="en-US" sz="1200" b="1" i="0" dirty="0">
                        <a:effectLst/>
                        <a:latin typeface="Calibri" panose="020F0502020204030204" pitchFamily="34" charset="0"/>
                        <a:cs typeface="Calibri" panose="020F0502020204030204" pitchFamily="34" charset="0"/>
                      </a:endParaRPr>
                    </a:p>
                  </a:txBody>
                  <a:tcPr marL="73946" marR="73946" marT="36973" marB="36973" anchor="ctr">
                    <a:lnL>
                      <a:noFill/>
                    </a:lnL>
                    <a:lnR>
                      <a:noFill/>
                    </a:lnR>
                    <a:lnT>
                      <a:noFill/>
                    </a:lnT>
                    <a:lnB>
                      <a:noFill/>
                    </a:lnB>
                    <a:noFill/>
                  </a:tcPr>
                </a:tc>
                <a:tc>
                  <a:txBody>
                    <a:bodyPr/>
                    <a:lstStyle/>
                    <a:p>
                      <a:pPr algn="l"/>
                      <a:endParaRPr lang="en-US" sz="1200" b="0" i="0" dirty="0">
                        <a:effectLst/>
                        <a:latin typeface="Calibri" panose="020F0502020204030204" pitchFamily="34" charset="0"/>
                        <a:cs typeface="Calibri" panose="020F0502020204030204" pitchFamily="34" charset="0"/>
                      </a:endParaRP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2744691396"/>
                  </a:ext>
                </a:extLst>
              </a:tr>
              <a:tr h="340151">
                <a:tc>
                  <a:txBody>
                    <a:bodyPr/>
                    <a:lstStyle/>
                    <a:p>
                      <a:pPr algn="r" fontAlgn="ctr"/>
                      <a:r>
                        <a:rPr lang="en-US" sz="1200" b="1" i="0" dirty="0">
                          <a:effectLst/>
                          <a:latin typeface="Calibri" panose="020F0502020204030204" pitchFamily="34" charset="0"/>
                          <a:cs typeface="Calibri" panose="020F0502020204030204" pitchFamily="34" charset="0"/>
                        </a:rPr>
                        <a:t>Covariance Type:</a:t>
                      </a:r>
                    </a:p>
                  </a:txBody>
                  <a:tcPr marL="73946" marR="73946" marT="36973" marB="36973" anchor="ctr">
                    <a:lnL w="12700" cap="flat" cmpd="sng" algn="ctr">
                      <a:solidFill>
                        <a:schemeClr val="accent1"/>
                      </a:solidFill>
                      <a:prstDash val="solid"/>
                      <a:round/>
                      <a:headEnd type="none" w="med" len="med"/>
                      <a:tailEnd type="none" w="med" len="med"/>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nonrobust</a:t>
                      </a:r>
                    </a:p>
                  </a:txBody>
                  <a:tcPr marL="73946" marR="73946" marT="36973" marB="36973"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fontAlgn="ctr"/>
                      <a:endParaRPr lang="en-US" sz="1200" b="1" i="0" dirty="0">
                        <a:effectLst/>
                        <a:latin typeface="Calibri" panose="020F0502020204030204" pitchFamily="34" charset="0"/>
                        <a:cs typeface="Calibri" panose="020F0502020204030204" pitchFamily="34" charset="0"/>
                      </a:endParaRPr>
                    </a:p>
                  </a:txBody>
                  <a:tcPr marL="73946" marR="73946" marT="36973" marB="36973"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l"/>
                      <a:endParaRPr lang="en-US" sz="1200" b="0" i="0" dirty="0">
                        <a:effectLst/>
                        <a:latin typeface="Calibri" panose="020F0502020204030204" pitchFamily="34" charset="0"/>
                        <a:cs typeface="Calibri" panose="020F0502020204030204" pitchFamily="34" charset="0"/>
                      </a:endParaRPr>
                    </a:p>
                  </a:txBody>
                  <a:tcPr marL="73946" marR="73946" marT="36973" marB="36973" anchor="ctr">
                    <a:lnL>
                      <a:noFill/>
                    </a:lnL>
                    <a:lnR w="12700" cap="flat" cmpd="sng" algn="ctr">
                      <a:solidFill>
                        <a:schemeClr val="accent1"/>
                      </a:solidFill>
                      <a:prstDash val="solid"/>
                      <a:round/>
                      <a:headEnd type="none" w="med" len="med"/>
                      <a:tailEnd type="none" w="med" len="med"/>
                    </a:lnR>
                    <a:lnT>
                      <a:noFill/>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779163915"/>
                  </a:ext>
                </a:extLst>
              </a:tr>
            </a:tbl>
          </a:graphicData>
        </a:graphic>
      </p:graphicFrame>
      <p:graphicFrame>
        <p:nvGraphicFramePr>
          <p:cNvPr id="6" name="Table 5">
            <a:extLst>
              <a:ext uri="{FF2B5EF4-FFF2-40B4-BE49-F238E27FC236}">
                <a16:creationId xmlns:a16="http://schemas.microsoft.com/office/drawing/2014/main" id="{49BCAE1C-DD65-A68A-F0AB-C3A70AC18D71}"/>
              </a:ext>
            </a:extLst>
          </p:cNvPr>
          <p:cNvGraphicFramePr>
            <a:graphicFrameLocks noGrp="1"/>
          </p:cNvGraphicFramePr>
          <p:nvPr>
            <p:extLst>
              <p:ext uri="{D42A27DB-BD31-4B8C-83A1-F6EECF244321}">
                <p14:modId xmlns:p14="http://schemas.microsoft.com/office/powerpoint/2010/main" val="580296305"/>
              </p:ext>
            </p:extLst>
          </p:nvPr>
        </p:nvGraphicFramePr>
        <p:xfrm>
          <a:off x="4582510" y="5739681"/>
          <a:ext cx="7338204" cy="1036320"/>
        </p:xfrm>
        <a:graphic>
          <a:graphicData uri="http://schemas.openxmlformats.org/drawingml/2006/table">
            <a:tbl>
              <a:tblPr/>
              <a:tblGrid>
                <a:gridCol w="1834551">
                  <a:extLst>
                    <a:ext uri="{9D8B030D-6E8A-4147-A177-3AD203B41FA5}">
                      <a16:colId xmlns:a16="http://schemas.microsoft.com/office/drawing/2014/main" val="3417764720"/>
                    </a:ext>
                  </a:extLst>
                </a:gridCol>
                <a:gridCol w="1834551">
                  <a:extLst>
                    <a:ext uri="{9D8B030D-6E8A-4147-A177-3AD203B41FA5}">
                      <a16:colId xmlns:a16="http://schemas.microsoft.com/office/drawing/2014/main" val="2786173153"/>
                    </a:ext>
                  </a:extLst>
                </a:gridCol>
                <a:gridCol w="1834551">
                  <a:extLst>
                    <a:ext uri="{9D8B030D-6E8A-4147-A177-3AD203B41FA5}">
                      <a16:colId xmlns:a16="http://schemas.microsoft.com/office/drawing/2014/main" val="958907406"/>
                    </a:ext>
                  </a:extLst>
                </a:gridCol>
                <a:gridCol w="1834551">
                  <a:extLst>
                    <a:ext uri="{9D8B030D-6E8A-4147-A177-3AD203B41FA5}">
                      <a16:colId xmlns:a16="http://schemas.microsoft.com/office/drawing/2014/main" val="3880310973"/>
                    </a:ext>
                  </a:extLst>
                </a:gridCol>
              </a:tblGrid>
              <a:tr h="0">
                <a:tc>
                  <a:txBody>
                    <a:bodyPr/>
                    <a:lstStyle/>
                    <a:p>
                      <a:pPr algn="r" fontAlgn="ctr"/>
                      <a:r>
                        <a:rPr lang="en-US" sz="1200" b="1" i="0" dirty="0">
                          <a:effectLst/>
                          <a:latin typeface="Calibri" panose="020F0502020204030204" pitchFamily="34" charset="0"/>
                          <a:cs typeface="Calibri" panose="020F0502020204030204" pitchFamily="34" charset="0"/>
                        </a:rPr>
                        <a:t>Omnibus:</a:t>
                      </a:r>
                    </a:p>
                  </a:txBody>
                  <a:tcPr marL="76200" marR="76200" marT="38100" marB="3810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226.057</a:t>
                      </a:r>
                    </a:p>
                  </a:txBody>
                  <a:tcPr marL="76200" marR="76200" marT="38100" marB="3810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Durbin-Watson:</a:t>
                      </a:r>
                    </a:p>
                  </a:txBody>
                  <a:tcPr marL="76200" marR="76200" marT="38100" marB="3810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1.988</a:t>
                      </a:r>
                    </a:p>
                  </a:txBody>
                  <a:tcPr marL="76200" marR="76200" marT="38100" marB="38100" anchor="ctr">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a:noFill/>
                    </a:lnB>
                    <a:noFill/>
                  </a:tcPr>
                </a:tc>
                <a:extLst>
                  <a:ext uri="{0D108BD9-81ED-4DB2-BD59-A6C34878D82A}">
                    <a16:rowId xmlns:a16="http://schemas.microsoft.com/office/drawing/2014/main" val="3258703042"/>
                  </a:ext>
                </a:extLst>
              </a:tr>
              <a:tr h="0">
                <a:tc>
                  <a:txBody>
                    <a:bodyPr/>
                    <a:lstStyle/>
                    <a:p>
                      <a:pPr algn="r" fontAlgn="ctr"/>
                      <a:r>
                        <a:rPr lang="en-US" sz="1200" b="1" i="0" dirty="0">
                          <a:effectLst/>
                          <a:latin typeface="Calibri" panose="020F0502020204030204" pitchFamily="34" charset="0"/>
                          <a:cs typeface="Calibri" panose="020F0502020204030204" pitchFamily="34" charset="0"/>
                        </a:rPr>
                        <a:t>Prob(Omnibus):</a:t>
                      </a:r>
                    </a:p>
                  </a:txBody>
                  <a:tcPr marL="76200" marR="76200" marT="38100" marB="38100"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0.000</a:t>
                      </a:r>
                    </a:p>
                  </a:txBody>
                  <a:tcPr marL="76200" marR="76200" marT="38100" marB="38100"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Jarque-Bera (JB):</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129.549</a:t>
                      </a:r>
                    </a:p>
                  </a:txBody>
                  <a:tcPr marL="76200" marR="76200" marT="38100" marB="38100"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1109666257"/>
                  </a:ext>
                </a:extLst>
              </a:tr>
              <a:tr h="0">
                <a:tc>
                  <a:txBody>
                    <a:bodyPr/>
                    <a:lstStyle/>
                    <a:p>
                      <a:pPr algn="r" fontAlgn="ctr"/>
                      <a:r>
                        <a:rPr lang="en-US" sz="1200" b="1" i="0" dirty="0">
                          <a:effectLst/>
                          <a:latin typeface="Calibri" panose="020F0502020204030204" pitchFamily="34" charset="0"/>
                          <a:cs typeface="Calibri" panose="020F0502020204030204" pitchFamily="34" charset="0"/>
                        </a:rPr>
                        <a:t>Skew:</a:t>
                      </a:r>
                    </a:p>
                  </a:txBody>
                  <a:tcPr marL="76200" marR="76200" marT="38100" marB="38100"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0.107</a:t>
                      </a:r>
                    </a:p>
                  </a:txBody>
                  <a:tcPr marL="76200" marR="76200" marT="38100" marB="38100" anchor="ctr">
                    <a:lnL>
                      <a:noFill/>
                    </a:lnL>
                    <a:lnR>
                      <a:noFill/>
                    </a:lnR>
                    <a:lnT>
                      <a:noFill/>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Prob(JB):</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7.39e-29</a:t>
                      </a:r>
                    </a:p>
                  </a:txBody>
                  <a:tcPr marL="76200" marR="76200" marT="38100" marB="38100"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4103541620"/>
                  </a:ext>
                </a:extLst>
              </a:tr>
              <a:tr h="0">
                <a:tc>
                  <a:txBody>
                    <a:bodyPr/>
                    <a:lstStyle/>
                    <a:p>
                      <a:pPr algn="r" fontAlgn="ctr"/>
                      <a:r>
                        <a:rPr lang="en-US" sz="1200" b="1" i="0" dirty="0">
                          <a:effectLst/>
                          <a:latin typeface="Calibri" panose="020F0502020204030204" pitchFamily="34" charset="0"/>
                          <a:cs typeface="Calibri" panose="020F0502020204030204" pitchFamily="34" charset="0"/>
                        </a:rPr>
                        <a:t>Kurtosis:</a:t>
                      </a:r>
                    </a:p>
                  </a:txBody>
                  <a:tcPr marL="76200" marR="76200" marT="38100" marB="38100" anchor="ctr">
                    <a:lnL w="12700" cap="flat" cmpd="sng" algn="ctr">
                      <a:solidFill>
                        <a:schemeClr val="accent1"/>
                      </a:solidFill>
                      <a:prstDash val="solid"/>
                      <a:round/>
                      <a:headEnd type="none" w="med" len="med"/>
                      <a:tailEnd type="none" w="med" len="med"/>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2.485</a:t>
                      </a:r>
                    </a:p>
                  </a:txBody>
                  <a:tcPr marL="76200" marR="76200" marT="38100" marB="38100"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fontAlgn="ctr"/>
                      <a:r>
                        <a:rPr lang="en-US" sz="1200" b="1" i="0" dirty="0">
                          <a:effectLst/>
                          <a:latin typeface="Calibri" panose="020F0502020204030204" pitchFamily="34" charset="0"/>
                          <a:cs typeface="Calibri" panose="020F0502020204030204" pitchFamily="34" charset="0"/>
                        </a:rPr>
                        <a:t>Cond. No.</a:t>
                      </a:r>
                    </a:p>
                  </a:txBody>
                  <a:tcPr marL="76200" marR="76200" marT="38100" marB="38100"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29.7</a:t>
                      </a:r>
                    </a:p>
                  </a:txBody>
                  <a:tcPr marL="76200" marR="76200" marT="38100" marB="38100" anchor="ctr">
                    <a:lnL>
                      <a:noFill/>
                    </a:lnL>
                    <a:lnR w="12700" cap="flat" cmpd="sng" algn="ctr">
                      <a:solidFill>
                        <a:schemeClr val="accent1"/>
                      </a:solidFill>
                      <a:prstDash val="solid"/>
                      <a:round/>
                      <a:headEnd type="none" w="med" len="med"/>
                      <a:tailEnd type="none" w="med" len="med"/>
                    </a:lnR>
                    <a:lnT>
                      <a:noFill/>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2775571040"/>
                  </a:ext>
                </a:extLst>
              </a:tr>
            </a:tbl>
          </a:graphicData>
        </a:graphic>
      </p:graphicFrame>
      <p:sp>
        <p:nvSpPr>
          <p:cNvPr id="7" name="Rectangle 1">
            <a:extLst>
              <a:ext uri="{FF2B5EF4-FFF2-40B4-BE49-F238E27FC236}">
                <a16:creationId xmlns:a16="http://schemas.microsoft.com/office/drawing/2014/main" id="{B2167037-BAF9-C42F-CF1B-19031541DE86}"/>
              </a:ext>
            </a:extLst>
          </p:cNvPr>
          <p:cNvSpPr>
            <a:spLocks noChangeArrowheads="1"/>
          </p:cNvSpPr>
          <p:nvPr/>
        </p:nvSpPr>
        <p:spPr bwMode="auto">
          <a:xfrm>
            <a:off x="1155700" y="36099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10" name="Straight Connector 9">
            <a:extLst>
              <a:ext uri="{FF2B5EF4-FFF2-40B4-BE49-F238E27FC236}">
                <a16:creationId xmlns:a16="http://schemas.microsoft.com/office/drawing/2014/main" id="{A04A1A1E-6B97-C0DE-13A0-487040228B89}"/>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graphicFrame>
        <p:nvGraphicFramePr>
          <p:cNvPr id="13" name="Table 12">
            <a:extLst>
              <a:ext uri="{FF2B5EF4-FFF2-40B4-BE49-F238E27FC236}">
                <a16:creationId xmlns:a16="http://schemas.microsoft.com/office/drawing/2014/main" id="{B4DD796C-3F24-8663-8994-C4F728862117}"/>
              </a:ext>
            </a:extLst>
          </p:cNvPr>
          <p:cNvGraphicFramePr>
            <a:graphicFrameLocks noGrp="1"/>
          </p:cNvGraphicFramePr>
          <p:nvPr>
            <p:extLst>
              <p:ext uri="{D42A27DB-BD31-4B8C-83A1-F6EECF244321}">
                <p14:modId xmlns:p14="http://schemas.microsoft.com/office/powerpoint/2010/main" val="2552562029"/>
              </p:ext>
            </p:extLst>
          </p:nvPr>
        </p:nvGraphicFramePr>
        <p:xfrm>
          <a:off x="4582510" y="4643298"/>
          <a:ext cx="7354823" cy="1036320"/>
        </p:xfrm>
        <a:graphic>
          <a:graphicData uri="http://schemas.openxmlformats.org/drawingml/2006/table">
            <a:tbl>
              <a:tblPr/>
              <a:tblGrid>
                <a:gridCol w="1050689">
                  <a:extLst>
                    <a:ext uri="{9D8B030D-6E8A-4147-A177-3AD203B41FA5}">
                      <a16:colId xmlns:a16="http://schemas.microsoft.com/office/drawing/2014/main" val="3113276347"/>
                    </a:ext>
                  </a:extLst>
                </a:gridCol>
                <a:gridCol w="1050689">
                  <a:extLst>
                    <a:ext uri="{9D8B030D-6E8A-4147-A177-3AD203B41FA5}">
                      <a16:colId xmlns:a16="http://schemas.microsoft.com/office/drawing/2014/main" val="475652954"/>
                    </a:ext>
                  </a:extLst>
                </a:gridCol>
                <a:gridCol w="1050689">
                  <a:extLst>
                    <a:ext uri="{9D8B030D-6E8A-4147-A177-3AD203B41FA5}">
                      <a16:colId xmlns:a16="http://schemas.microsoft.com/office/drawing/2014/main" val="1355374857"/>
                    </a:ext>
                  </a:extLst>
                </a:gridCol>
                <a:gridCol w="1050689">
                  <a:extLst>
                    <a:ext uri="{9D8B030D-6E8A-4147-A177-3AD203B41FA5}">
                      <a16:colId xmlns:a16="http://schemas.microsoft.com/office/drawing/2014/main" val="2721033812"/>
                    </a:ext>
                  </a:extLst>
                </a:gridCol>
                <a:gridCol w="1050689">
                  <a:extLst>
                    <a:ext uri="{9D8B030D-6E8A-4147-A177-3AD203B41FA5}">
                      <a16:colId xmlns:a16="http://schemas.microsoft.com/office/drawing/2014/main" val="161954736"/>
                    </a:ext>
                  </a:extLst>
                </a:gridCol>
                <a:gridCol w="1050689">
                  <a:extLst>
                    <a:ext uri="{9D8B030D-6E8A-4147-A177-3AD203B41FA5}">
                      <a16:colId xmlns:a16="http://schemas.microsoft.com/office/drawing/2014/main" val="2447536053"/>
                    </a:ext>
                  </a:extLst>
                </a:gridCol>
                <a:gridCol w="1050689">
                  <a:extLst>
                    <a:ext uri="{9D8B030D-6E8A-4147-A177-3AD203B41FA5}">
                      <a16:colId xmlns:a16="http://schemas.microsoft.com/office/drawing/2014/main" val="2488033627"/>
                    </a:ext>
                  </a:extLst>
                </a:gridCol>
              </a:tblGrid>
              <a:tr h="0">
                <a:tc>
                  <a:txBody>
                    <a:bodyPr/>
                    <a:lstStyle/>
                    <a:p>
                      <a:endParaRPr lang="en-US" sz="1200" b="0" i="0" dirty="0">
                        <a:effectLst/>
                        <a:latin typeface="Calibri" panose="020F0502020204030204" pitchFamily="34" charset="0"/>
                        <a:cs typeface="Calibri" panose="020F0502020204030204" pitchFamily="34" charset="0"/>
                      </a:endParaRPr>
                    </a:p>
                  </a:txBody>
                  <a:tcPr marL="76200" marR="76200" marT="38100" marB="38100" anchor="ctr">
                    <a:lnL w="12700" cap="flat" cmpd="sng" algn="ctr">
                      <a:solidFill>
                        <a:schemeClr val="accent1"/>
                      </a:solidFill>
                      <a:prstDash val="solid"/>
                      <a:round/>
                      <a:headEnd type="none" w="med" len="med"/>
                      <a:tailEnd type="none" w="med" len="med"/>
                    </a:lnL>
                    <a:lnR>
                      <a:noFill/>
                    </a:lnR>
                    <a:lnT w="12700" cap="flat" cmpd="sng" algn="ctr">
                      <a:solidFill>
                        <a:schemeClr val="accent1"/>
                      </a:solidFill>
                      <a:prstDash val="solid"/>
                      <a:round/>
                      <a:headEnd type="none" w="med" len="med"/>
                      <a:tailEnd type="none" w="med" len="med"/>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coef</a:t>
                      </a:r>
                    </a:p>
                  </a:txBody>
                  <a:tcPr marL="76200" marR="76200" marT="38100" marB="3810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std err</a:t>
                      </a:r>
                    </a:p>
                  </a:txBody>
                  <a:tcPr marL="76200" marR="76200" marT="38100" marB="3810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t</a:t>
                      </a:r>
                    </a:p>
                  </a:txBody>
                  <a:tcPr marL="76200" marR="76200" marT="38100" marB="3810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P&gt;|t|</a:t>
                      </a:r>
                    </a:p>
                  </a:txBody>
                  <a:tcPr marL="76200" marR="76200" marT="38100" marB="3810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[0.025</a:t>
                      </a:r>
                    </a:p>
                  </a:txBody>
                  <a:tcPr marL="76200" marR="76200" marT="38100" marB="38100" anchor="ctr">
                    <a:lnL>
                      <a:noFill/>
                    </a:lnL>
                    <a:lnR>
                      <a:noFill/>
                    </a:lnR>
                    <a:lnT w="12700" cap="flat" cmpd="sng" algn="ctr">
                      <a:solidFill>
                        <a:schemeClr val="accent1"/>
                      </a:solidFill>
                      <a:prstDash val="solid"/>
                      <a:round/>
                      <a:headEnd type="none" w="med" len="med"/>
                      <a:tailEnd type="none" w="med" len="med"/>
                    </a:lnT>
                    <a:lnB>
                      <a:noFill/>
                    </a:lnB>
                    <a:noFill/>
                  </a:tcPr>
                </a:tc>
                <a:tc>
                  <a:txBody>
                    <a:bodyPr/>
                    <a:lstStyle/>
                    <a:p>
                      <a:pPr algn="r" fontAlgn="ctr"/>
                      <a:r>
                        <a:rPr lang="en-US" sz="1200" b="1" i="0" dirty="0">
                          <a:effectLst/>
                          <a:latin typeface="Calibri" panose="020F0502020204030204" pitchFamily="34" charset="0"/>
                          <a:cs typeface="Calibri" panose="020F0502020204030204" pitchFamily="34" charset="0"/>
                        </a:rPr>
                        <a:t>0.975]</a:t>
                      </a:r>
                    </a:p>
                  </a:txBody>
                  <a:tcPr marL="76200" marR="76200" marT="38100" marB="38100" anchor="ctr">
                    <a:lnL>
                      <a:noFill/>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a:noFill/>
                    </a:lnB>
                    <a:noFill/>
                  </a:tcPr>
                </a:tc>
                <a:extLst>
                  <a:ext uri="{0D108BD9-81ED-4DB2-BD59-A6C34878D82A}">
                    <a16:rowId xmlns:a16="http://schemas.microsoft.com/office/drawing/2014/main" val="1755117337"/>
                  </a:ext>
                </a:extLst>
              </a:tr>
              <a:tr h="0">
                <a:tc>
                  <a:txBody>
                    <a:bodyPr/>
                    <a:lstStyle/>
                    <a:p>
                      <a:pPr algn="r" fontAlgn="ctr"/>
                      <a:r>
                        <a:rPr lang="en-US" sz="1200" b="1" i="0" dirty="0">
                          <a:effectLst/>
                          <a:latin typeface="Calibri" panose="020F0502020204030204" pitchFamily="34" charset="0"/>
                          <a:cs typeface="Calibri" panose="020F0502020204030204" pitchFamily="34" charset="0"/>
                        </a:rPr>
                        <a:t>Intercept</a:t>
                      </a:r>
                    </a:p>
                  </a:txBody>
                  <a:tcPr marL="76200" marR="76200" marT="38100" marB="38100"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83.7736</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0.435</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192.484</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0.000</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82.920</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84.627</a:t>
                      </a:r>
                    </a:p>
                  </a:txBody>
                  <a:tcPr marL="76200" marR="76200" marT="38100" marB="38100"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1305030335"/>
                  </a:ext>
                </a:extLst>
              </a:tr>
              <a:tr h="0">
                <a:tc>
                  <a:txBody>
                    <a:bodyPr/>
                    <a:lstStyle/>
                    <a:p>
                      <a:pPr algn="r" fontAlgn="ctr"/>
                      <a:r>
                        <a:rPr lang="en-US" sz="1200" b="1" i="0" dirty="0">
                          <a:effectLst/>
                          <a:latin typeface="Calibri" panose="020F0502020204030204" pitchFamily="34" charset="0"/>
                          <a:cs typeface="Calibri" panose="020F0502020204030204" pitchFamily="34" charset="0"/>
                        </a:rPr>
                        <a:t>smoker[T.y]</a:t>
                      </a:r>
                    </a:p>
                  </a:txBody>
                  <a:tcPr marL="76200" marR="76200" marT="38100" marB="38100" anchor="ctr">
                    <a:lnL w="12700" cap="flat" cmpd="sng" algn="ctr">
                      <a:solidFill>
                        <a:schemeClr val="accent1"/>
                      </a:solidFill>
                      <a:prstDash val="solid"/>
                      <a:round/>
                      <a:headEnd type="none" w="med" len="med"/>
                      <a:tailEnd type="none" w="med" len="med"/>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-5.5675</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0.519</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-10.735</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0.000</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-6.584</a:t>
                      </a:r>
                    </a:p>
                  </a:txBody>
                  <a:tcPr marL="76200" marR="76200" marT="38100" marB="38100" anchor="ctr">
                    <a:lnL>
                      <a:noFill/>
                    </a:lnL>
                    <a:lnR>
                      <a:noFill/>
                    </a:lnR>
                    <a:lnT>
                      <a:noFill/>
                    </a:lnT>
                    <a:lnB>
                      <a:noFill/>
                    </a:lnB>
                    <a:noFill/>
                  </a:tcPr>
                </a:tc>
                <a:tc>
                  <a:txBody>
                    <a:bodyPr/>
                    <a:lstStyle/>
                    <a:p>
                      <a:pPr algn="r"/>
                      <a:r>
                        <a:rPr lang="en-US" sz="1200" b="0" i="0" dirty="0">
                          <a:effectLst/>
                          <a:latin typeface="Calibri" panose="020F0502020204030204" pitchFamily="34" charset="0"/>
                          <a:cs typeface="Calibri" panose="020F0502020204030204" pitchFamily="34" charset="0"/>
                        </a:rPr>
                        <a:t>-4.551</a:t>
                      </a:r>
                    </a:p>
                  </a:txBody>
                  <a:tcPr marL="76200" marR="76200" marT="38100" marB="38100" anchor="ctr">
                    <a:lnL>
                      <a:noFill/>
                    </a:lnL>
                    <a:lnR w="12700" cap="flat" cmpd="sng" algn="ctr">
                      <a:solidFill>
                        <a:schemeClr val="accent1"/>
                      </a:solidFill>
                      <a:prstDash val="solid"/>
                      <a:round/>
                      <a:headEnd type="none" w="med" len="med"/>
                      <a:tailEnd type="none" w="med" len="med"/>
                    </a:lnR>
                    <a:lnT>
                      <a:noFill/>
                    </a:lnT>
                    <a:lnB>
                      <a:noFill/>
                    </a:lnB>
                    <a:noFill/>
                  </a:tcPr>
                </a:tc>
                <a:extLst>
                  <a:ext uri="{0D108BD9-81ED-4DB2-BD59-A6C34878D82A}">
                    <a16:rowId xmlns:a16="http://schemas.microsoft.com/office/drawing/2014/main" val="2428957127"/>
                  </a:ext>
                </a:extLst>
              </a:tr>
              <a:tr h="0">
                <a:tc>
                  <a:txBody>
                    <a:bodyPr/>
                    <a:lstStyle/>
                    <a:p>
                      <a:pPr algn="r" fontAlgn="ctr"/>
                      <a:r>
                        <a:rPr lang="en-US" sz="1200" b="1" i="0" dirty="0">
                          <a:effectLst/>
                          <a:latin typeface="Calibri" panose="020F0502020204030204" pitchFamily="34" charset="0"/>
                          <a:cs typeface="Calibri" panose="020F0502020204030204" pitchFamily="34" charset="0"/>
                        </a:rPr>
                        <a:t>drinks_aweek</a:t>
                      </a:r>
                    </a:p>
                  </a:txBody>
                  <a:tcPr marL="76200" marR="76200" marT="38100" marB="38100" anchor="ctr">
                    <a:lnL w="12700" cap="flat" cmpd="sng" algn="ctr">
                      <a:solidFill>
                        <a:schemeClr val="accent1"/>
                      </a:solidFill>
                      <a:prstDash val="solid"/>
                      <a:round/>
                      <a:headEnd type="none" w="med" len="med"/>
                      <a:tailEnd type="none" w="med" len="med"/>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-1.8051</a:t>
                      </a:r>
                    </a:p>
                  </a:txBody>
                  <a:tcPr marL="76200" marR="76200" marT="38100" marB="38100"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0.037</a:t>
                      </a:r>
                    </a:p>
                  </a:txBody>
                  <a:tcPr marL="76200" marR="76200" marT="38100" marB="38100"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-48.294</a:t>
                      </a:r>
                    </a:p>
                  </a:txBody>
                  <a:tcPr marL="76200" marR="76200" marT="38100" marB="38100"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0.000</a:t>
                      </a:r>
                    </a:p>
                  </a:txBody>
                  <a:tcPr marL="76200" marR="76200" marT="38100" marB="38100"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-1.878</a:t>
                      </a:r>
                    </a:p>
                  </a:txBody>
                  <a:tcPr marL="76200" marR="76200" marT="38100" marB="38100" anchor="ctr">
                    <a:lnL>
                      <a:noFill/>
                    </a:lnL>
                    <a:lnR>
                      <a:noFill/>
                    </a:lnR>
                    <a:lnT>
                      <a:noFill/>
                    </a:lnT>
                    <a:lnB w="12700" cap="flat" cmpd="sng" algn="ctr">
                      <a:solidFill>
                        <a:schemeClr val="accent1"/>
                      </a:solidFill>
                      <a:prstDash val="solid"/>
                      <a:round/>
                      <a:headEnd type="none" w="med" len="med"/>
                      <a:tailEnd type="none" w="med" len="med"/>
                    </a:lnB>
                    <a:noFill/>
                  </a:tcPr>
                </a:tc>
                <a:tc>
                  <a:txBody>
                    <a:bodyPr/>
                    <a:lstStyle/>
                    <a:p>
                      <a:pPr algn="r"/>
                      <a:r>
                        <a:rPr lang="en-US" sz="1200" b="0" i="0" dirty="0">
                          <a:effectLst/>
                          <a:latin typeface="Calibri" panose="020F0502020204030204" pitchFamily="34" charset="0"/>
                          <a:cs typeface="Calibri" panose="020F0502020204030204" pitchFamily="34" charset="0"/>
                        </a:rPr>
                        <a:t>-1.732</a:t>
                      </a:r>
                    </a:p>
                  </a:txBody>
                  <a:tcPr marL="76200" marR="76200" marT="38100" marB="38100" anchor="ctr">
                    <a:lnL>
                      <a:noFill/>
                    </a:lnL>
                    <a:lnR w="12700" cap="flat" cmpd="sng" algn="ctr">
                      <a:solidFill>
                        <a:schemeClr val="accent1"/>
                      </a:solidFill>
                      <a:prstDash val="solid"/>
                      <a:round/>
                      <a:headEnd type="none" w="med" len="med"/>
                      <a:tailEnd type="none" w="med" len="med"/>
                    </a:lnR>
                    <a:lnT>
                      <a:noFill/>
                    </a:lnT>
                    <a:lnB w="12700" cap="flat" cmpd="sng" algn="ctr">
                      <a:solidFill>
                        <a:schemeClr val="accent1"/>
                      </a:solidFill>
                      <a:prstDash val="solid"/>
                      <a:round/>
                      <a:headEnd type="none" w="med" len="med"/>
                      <a:tailEnd type="none" w="med" len="med"/>
                    </a:lnB>
                    <a:noFill/>
                  </a:tcPr>
                </a:tc>
                <a:extLst>
                  <a:ext uri="{0D108BD9-81ED-4DB2-BD59-A6C34878D82A}">
                    <a16:rowId xmlns:a16="http://schemas.microsoft.com/office/drawing/2014/main" val="1596018130"/>
                  </a:ext>
                </a:extLst>
              </a:tr>
            </a:tbl>
          </a:graphicData>
        </a:graphic>
      </p:graphicFrame>
      <p:sp>
        <p:nvSpPr>
          <p:cNvPr id="4" name="TextBox 3">
            <a:extLst>
              <a:ext uri="{FF2B5EF4-FFF2-40B4-BE49-F238E27FC236}">
                <a16:creationId xmlns:a16="http://schemas.microsoft.com/office/drawing/2014/main" id="{86DCBD33-EFB0-8DA8-482E-F9649AA9DACD}"/>
              </a:ext>
            </a:extLst>
          </p:cNvPr>
          <p:cNvSpPr txBox="1"/>
          <p:nvPr/>
        </p:nvSpPr>
        <p:spPr>
          <a:xfrm>
            <a:off x="407773" y="1345704"/>
            <a:ext cx="3922927" cy="2277547"/>
          </a:xfrm>
          <a:prstGeom prst="rect">
            <a:avLst/>
          </a:prstGeom>
          <a:noFill/>
        </p:spPr>
        <p:txBody>
          <a:bodyPr wrap="square" rtlCol="0">
            <a:spAutoFit/>
          </a:bodyPr>
          <a:lstStyle/>
          <a:p>
            <a:r>
              <a:rPr lang="en-US" sz="1600" b="1" dirty="0">
                <a:solidFill>
                  <a:schemeClr val="tx1">
                    <a:lumMod val="65000"/>
                    <a:lumOff val="35000"/>
                  </a:schemeClr>
                </a:solidFill>
              </a:rPr>
              <a:t>Analysis:</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The R-squared value of 0.2 is too low, which indicates a very weak relationship between age of</a:t>
            </a:r>
          </a:p>
          <a:p>
            <a:r>
              <a:rPr lang="en-US" sz="1400" dirty="0">
                <a:solidFill>
                  <a:schemeClr val="tx1">
                    <a:lumMod val="65000"/>
                    <a:lumOff val="35000"/>
                  </a:schemeClr>
                </a:solidFill>
                <a:latin typeface="Calibri" panose="020F0502020204030204" pitchFamily="34" charset="0"/>
                <a:cs typeface="Calibri" panose="020F0502020204030204" pitchFamily="34" charset="0"/>
              </a:rPr>
              <a:t>death and the number of drinks per week, and </a:t>
            </a:r>
          </a:p>
          <a:p>
            <a:r>
              <a:rPr lang="en-US" sz="1400" dirty="0">
                <a:solidFill>
                  <a:schemeClr val="tx1">
                    <a:lumMod val="65000"/>
                    <a:lumOff val="35000"/>
                  </a:schemeClr>
                </a:solidFill>
                <a:latin typeface="Calibri" panose="020F0502020204030204" pitchFamily="34" charset="0"/>
                <a:cs typeface="Calibri" panose="020F0502020204030204" pitchFamily="34" charset="0"/>
              </a:rPr>
              <a:t>whether or not an individual was a smoker.</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a:p>
            <a:r>
              <a:rPr lang="en-US" sz="1400" dirty="0">
                <a:solidFill>
                  <a:schemeClr val="tx1">
                    <a:lumMod val="65000"/>
                    <a:lumOff val="35000"/>
                  </a:schemeClr>
                </a:solidFill>
                <a:latin typeface="Calibri" panose="020F0502020204030204" pitchFamily="34" charset="0"/>
                <a:cs typeface="Calibri" panose="020F0502020204030204" pitchFamily="34" charset="0"/>
              </a:rPr>
              <a:t>Using only these variables it is very difficult to predict the age of death of a person.</a:t>
            </a:r>
          </a:p>
          <a:p>
            <a:endParaRPr lang="en-US" sz="1400" dirty="0">
              <a:solidFill>
                <a:schemeClr val="tx1">
                  <a:lumMod val="65000"/>
                  <a:lumOff val="3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33496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14DD21EB-B6F0-A7A5-A826-4E9301EFAEC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E04ADB9-7071-98B4-DE47-ABC98C530F5B}"/>
              </a:ext>
            </a:extLst>
          </p:cNvPr>
          <p:cNvSpPr txBox="1"/>
          <p:nvPr/>
        </p:nvSpPr>
        <p:spPr>
          <a:xfrm>
            <a:off x="407773" y="160639"/>
            <a:ext cx="3222357" cy="769441"/>
          </a:xfrm>
          <a:prstGeom prst="rect">
            <a:avLst/>
          </a:prstGeom>
          <a:noFill/>
        </p:spPr>
        <p:txBody>
          <a:bodyPr wrap="none" rtlCol="0">
            <a:spAutoFit/>
          </a:bodyPr>
          <a:lstStyle/>
          <a:p>
            <a:r>
              <a:rPr lang="en-US" sz="4400" dirty="0">
                <a:solidFill>
                  <a:schemeClr val="tx1">
                    <a:lumMod val="65000"/>
                    <a:lumOff val="35000"/>
                  </a:schemeClr>
                </a:solidFill>
              </a:rPr>
              <a:t>Conclusion</a:t>
            </a:r>
          </a:p>
        </p:txBody>
      </p:sp>
      <p:cxnSp>
        <p:nvCxnSpPr>
          <p:cNvPr id="4" name="Straight Connector 3">
            <a:extLst>
              <a:ext uri="{FF2B5EF4-FFF2-40B4-BE49-F238E27FC236}">
                <a16:creationId xmlns:a16="http://schemas.microsoft.com/office/drawing/2014/main" id="{71587030-28DB-DE32-0B5C-4B236E3A316E}"/>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7" name="Rectangle 1">
            <a:extLst>
              <a:ext uri="{FF2B5EF4-FFF2-40B4-BE49-F238E27FC236}">
                <a16:creationId xmlns:a16="http://schemas.microsoft.com/office/drawing/2014/main" id="{5E0ADAEF-C129-5698-B284-C3F7912B6EA7}"/>
              </a:ext>
            </a:extLst>
          </p:cNvPr>
          <p:cNvSpPr>
            <a:spLocks noChangeArrowheads="1"/>
          </p:cNvSpPr>
          <p:nvPr/>
        </p:nvSpPr>
        <p:spPr bwMode="auto">
          <a:xfrm>
            <a:off x="1428969" y="147927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TextBox 2">
            <a:extLst>
              <a:ext uri="{FF2B5EF4-FFF2-40B4-BE49-F238E27FC236}">
                <a16:creationId xmlns:a16="http://schemas.microsoft.com/office/drawing/2014/main" id="{8D38DDD2-4F6A-EF97-9B3E-0AE27B732A4D}"/>
              </a:ext>
            </a:extLst>
          </p:cNvPr>
          <p:cNvSpPr txBox="1"/>
          <p:nvPr/>
        </p:nvSpPr>
        <p:spPr>
          <a:xfrm>
            <a:off x="407773" y="1294608"/>
            <a:ext cx="11392930" cy="3139321"/>
          </a:xfrm>
          <a:prstGeom prst="rect">
            <a:avLst/>
          </a:prstGeom>
          <a:noFill/>
        </p:spPr>
        <p:txBody>
          <a:bodyPr wrap="square" rtlCol="0">
            <a:spAutoFit/>
          </a:bodyPr>
          <a:lstStyle/>
          <a:p>
            <a:r>
              <a:rPr lang="en-US" dirty="0">
                <a:solidFill>
                  <a:schemeClr val="tx1">
                    <a:lumMod val="65000"/>
                    <a:lumOff val="35000"/>
                  </a:schemeClr>
                </a:solidFill>
                <a:latin typeface="Calibri" panose="020F0502020204030204" pitchFamily="34" charset="0"/>
                <a:cs typeface="Calibri" panose="020F0502020204030204" pitchFamily="34" charset="0"/>
              </a:rPr>
              <a:t>The data shows that smokers that die young are more likely to be males, and they have approximately the same number of drinks per week, regardless of the gender.</a:t>
            </a:r>
          </a:p>
          <a:p>
            <a:endParaRPr lang="en-US" dirty="0">
              <a:solidFill>
                <a:schemeClr val="tx1">
                  <a:lumMod val="65000"/>
                  <a:lumOff val="35000"/>
                </a:schemeClr>
              </a:solidFill>
              <a:latin typeface="Calibri" panose="020F0502020204030204" pitchFamily="34" charset="0"/>
              <a:cs typeface="Calibri" panose="020F0502020204030204" pitchFamily="34" charset="0"/>
            </a:endParaRPr>
          </a:p>
          <a:p>
            <a:r>
              <a:rPr lang="en-US" dirty="0">
                <a:solidFill>
                  <a:schemeClr val="tx1">
                    <a:lumMod val="65000"/>
                    <a:lumOff val="35000"/>
                  </a:schemeClr>
                </a:solidFill>
                <a:latin typeface="Calibri" panose="020F0502020204030204" pitchFamily="34" charset="0"/>
                <a:cs typeface="Calibri" panose="020F0502020204030204" pitchFamily="34" charset="0"/>
              </a:rPr>
              <a:t>It is more probable for a smoker to die than a non-smoker of the same age, although the difference is minimal according to the data. This is true for both genders.</a:t>
            </a:r>
          </a:p>
          <a:p>
            <a:endParaRPr lang="en-US" dirty="0">
              <a:solidFill>
                <a:schemeClr val="tx1">
                  <a:lumMod val="65000"/>
                  <a:lumOff val="35000"/>
                </a:schemeClr>
              </a:solidFill>
              <a:latin typeface="Calibri" panose="020F0502020204030204" pitchFamily="34" charset="0"/>
              <a:cs typeface="Calibri" panose="020F0502020204030204" pitchFamily="34" charset="0"/>
            </a:endParaRPr>
          </a:p>
          <a:p>
            <a:r>
              <a:rPr lang="en-US" dirty="0">
                <a:solidFill>
                  <a:schemeClr val="tx1">
                    <a:lumMod val="65000"/>
                    <a:lumOff val="35000"/>
                  </a:schemeClr>
                </a:solidFill>
                <a:latin typeface="Calibri" panose="020F0502020204030204" pitchFamily="34" charset="0"/>
                <a:cs typeface="Calibri" panose="020F0502020204030204" pitchFamily="34" charset="0"/>
              </a:rPr>
              <a:t>Cholesterol level and the number of drinks per week is not strongly related to weight.</a:t>
            </a:r>
          </a:p>
          <a:p>
            <a:endParaRPr lang="en-US" dirty="0">
              <a:solidFill>
                <a:schemeClr val="tx1">
                  <a:lumMod val="65000"/>
                  <a:lumOff val="35000"/>
                </a:schemeClr>
              </a:solidFill>
              <a:latin typeface="Calibri" panose="020F0502020204030204" pitchFamily="34" charset="0"/>
              <a:cs typeface="Calibri" panose="020F0502020204030204" pitchFamily="34" charset="0"/>
            </a:endParaRPr>
          </a:p>
          <a:p>
            <a:r>
              <a:rPr lang="en-US" dirty="0">
                <a:solidFill>
                  <a:schemeClr val="tx1">
                    <a:lumMod val="65000"/>
                    <a:lumOff val="35000"/>
                  </a:schemeClr>
                </a:solidFill>
                <a:latin typeface="Calibri" panose="020F0502020204030204" pitchFamily="34" charset="0"/>
                <a:cs typeface="Calibri" panose="020F0502020204030204" pitchFamily="34" charset="0"/>
              </a:rPr>
              <a:t>Unfortunately, the data used here is not enough to predict the age of age with great accuracy. There are many factors that influence an individual’s health, like exercise, food habits, and family health history, among others. That information is missing from the dataset.</a:t>
            </a:r>
          </a:p>
        </p:txBody>
      </p:sp>
    </p:spTree>
    <p:extLst>
      <p:ext uri="{BB962C8B-B14F-4D97-AF65-F5344CB8AC3E}">
        <p14:creationId xmlns:p14="http://schemas.microsoft.com/office/powerpoint/2010/main" val="149142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chemeClr val="bg1">
            <a:lumMod val="95000"/>
          </a:schemeClr>
        </a:solidFill>
        <a:effectLst/>
      </p:bgPr>
    </p:bg>
    <p:spTree>
      <p:nvGrpSpPr>
        <p:cNvPr id="1" name="">
          <a:extLst>
            <a:ext uri="{FF2B5EF4-FFF2-40B4-BE49-F238E27FC236}">
              <a16:creationId xmlns:a16="http://schemas.microsoft.com/office/drawing/2014/main" id="{14DD21EB-B6F0-A7A5-A826-4E9301EFAEC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E04ADB9-7071-98B4-DE47-ABC98C530F5B}"/>
              </a:ext>
            </a:extLst>
          </p:cNvPr>
          <p:cNvSpPr txBox="1"/>
          <p:nvPr/>
        </p:nvSpPr>
        <p:spPr>
          <a:xfrm>
            <a:off x="407773" y="160639"/>
            <a:ext cx="3273653" cy="769441"/>
          </a:xfrm>
          <a:prstGeom prst="rect">
            <a:avLst/>
          </a:prstGeom>
          <a:noFill/>
        </p:spPr>
        <p:txBody>
          <a:bodyPr wrap="none" rtlCol="0">
            <a:spAutoFit/>
          </a:bodyPr>
          <a:lstStyle/>
          <a:p>
            <a:r>
              <a:rPr lang="en-US" sz="4400" dirty="0">
                <a:solidFill>
                  <a:schemeClr val="tx1">
                    <a:lumMod val="65000"/>
                    <a:lumOff val="35000"/>
                  </a:schemeClr>
                </a:solidFill>
              </a:rPr>
              <a:t>References</a:t>
            </a:r>
          </a:p>
        </p:txBody>
      </p:sp>
      <p:cxnSp>
        <p:nvCxnSpPr>
          <p:cNvPr id="4" name="Straight Connector 3">
            <a:extLst>
              <a:ext uri="{FF2B5EF4-FFF2-40B4-BE49-F238E27FC236}">
                <a16:creationId xmlns:a16="http://schemas.microsoft.com/office/drawing/2014/main" id="{71587030-28DB-DE32-0B5C-4B236E3A316E}"/>
              </a:ext>
            </a:extLst>
          </p:cNvPr>
          <p:cNvCxnSpPr>
            <a:cxnSpLocks/>
          </p:cNvCxnSpPr>
          <p:nvPr/>
        </p:nvCxnSpPr>
        <p:spPr>
          <a:xfrm>
            <a:off x="407773" y="1025608"/>
            <a:ext cx="11392930"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BC2CC7B-B0A7-44D4-76A1-BD2729C9D481}"/>
              </a:ext>
            </a:extLst>
          </p:cNvPr>
          <p:cNvSpPr txBox="1"/>
          <p:nvPr/>
        </p:nvSpPr>
        <p:spPr>
          <a:xfrm>
            <a:off x="407773" y="1307691"/>
            <a:ext cx="11392930" cy="1138773"/>
          </a:xfrm>
          <a:prstGeom prst="rect">
            <a:avLst/>
          </a:prstGeom>
          <a:noFill/>
        </p:spPr>
        <p:txBody>
          <a:bodyPr wrap="square" rtlCol="0">
            <a:spAutoFit/>
          </a:bodyPr>
          <a:lstStyle/>
          <a:p>
            <a:r>
              <a:rPr lang="en-US" b="1" dirty="0">
                <a:solidFill>
                  <a:schemeClr val="tx1">
                    <a:lumMod val="65000"/>
                    <a:lumOff val="35000"/>
                  </a:schemeClr>
                </a:solidFill>
                <a:latin typeface="Calibri" panose="020F0502020204030204" pitchFamily="34" charset="0"/>
                <a:cs typeface="Calibri" panose="020F0502020204030204" pitchFamily="34" charset="0"/>
              </a:rPr>
              <a:t>Dataset:</a:t>
            </a:r>
          </a:p>
          <a:p>
            <a:endParaRPr lang="en-US" dirty="0">
              <a:solidFill>
                <a:schemeClr val="tx1">
                  <a:lumMod val="65000"/>
                  <a:lumOff val="35000"/>
                </a:schemeClr>
              </a:solidFill>
              <a:latin typeface="Calibri" panose="020F0502020204030204" pitchFamily="34" charset="0"/>
              <a:cs typeface="Calibri" panose="020F0502020204030204" pitchFamily="34" charset="0"/>
            </a:endParaRPr>
          </a:p>
          <a:p>
            <a:r>
              <a:rPr lang="en-US" sz="1600" dirty="0">
                <a:solidFill>
                  <a:schemeClr val="tx1">
                    <a:lumMod val="65000"/>
                    <a:lumOff val="35000"/>
                  </a:schemeClr>
                </a:solidFill>
                <a:latin typeface="Calibri" panose="020F0502020204030204" pitchFamily="34" charset="0"/>
                <a:cs typeface="Calibri" panose="020F0502020204030204" pitchFamily="34" charset="0"/>
              </a:rPr>
              <a:t>Joann Pineda (2025, February 3). “Individual Age of Death and Related Factors”. Kaggle.com. Retrieved on February 3, 2025 from https://www.kaggle.com/datasets/joannpineda/individual-age-of-death-and-related-factors</a:t>
            </a:r>
          </a:p>
        </p:txBody>
      </p:sp>
    </p:spTree>
    <p:extLst>
      <p:ext uri="{BB962C8B-B14F-4D97-AF65-F5344CB8AC3E}">
        <p14:creationId xmlns:p14="http://schemas.microsoft.com/office/powerpoint/2010/main" val="29436337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Ion Boardroom</Template>
  <TotalTime>394</TotalTime>
  <Words>1524</Words>
  <Application>Microsoft Macintosh PowerPoint</Application>
  <PresentationFormat>Widescreen</PresentationFormat>
  <Paragraphs>312</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Century Gothic</vt:lpstr>
      <vt:lpstr>Wingdings 3</vt:lpstr>
      <vt:lpstr>Ion Boardroom</vt:lpstr>
      <vt:lpstr>Individual age of death and related factors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 of death</dc:title>
  <dc:creator>Javier Corpus</dc:creator>
  <cp:lastModifiedBy>Javier Corpus</cp:lastModifiedBy>
  <cp:revision>22</cp:revision>
  <dcterms:created xsi:type="dcterms:W3CDTF">2025-02-25T01:59:53Z</dcterms:created>
  <dcterms:modified xsi:type="dcterms:W3CDTF">2025-02-27T03:15:11Z</dcterms:modified>
</cp:coreProperties>
</file>